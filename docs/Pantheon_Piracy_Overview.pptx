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9" r:id="rId20"/>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185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w="12700">
            <a:solidFill>
              <a:srgbClr val="0B1F3A"/>
            </a:solidFill>
            <a:prstDash val="solid"/>
          </a:ln>
        </p:spPr>
        <p:txBody>
          <a:bodyPr/>
          <a:lstStyle/>
          <a:p>
            <a:endParaRPr lang="en-US" dirty="0"/>
          </a:p>
        </p:txBody>
      </p:sp>
      <p:sp>
        <p:nvSpPr>
          <p:cNvPr id="3" name="Shape 1"/>
          <p:cNvSpPr/>
          <p:nvPr/>
        </p:nvSpPr>
        <p:spPr>
          <a:xfrm>
            <a:off x="0" y="0"/>
            <a:ext cx="164592" cy="6858000"/>
          </a:xfrm>
          <a:prstGeom prst="rect">
            <a:avLst/>
          </a:prstGeom>
          <a:solidFill>
            <a:srgbClr val="C8763C"/>
          </a:solidFill>
          <a:ln w="12700">
            <a:solidFill>
              <a:srgbClr val="C8763C"/>
            </a:solidFill>
            <a:prstDash val="solid"/>
          </a:ln>
        </p:spPr>
        <p:txBody>
          <a:bodyPr/>
          <a:lstStyle/>
          <a:p>
            <a:endParaRPr lang="en-US"/>
          </a:p>
        </p:txBody>
      </p:sp>
      <p:sp>
        <p:nvSpPr>
          <p:cNvPr id="4" name="Text 2"/>
          <p:cNvSpPr/>
          <p:nvPr/>
        </p:nvSpPr>
        <p:spPr>
          <a:xfrm>
            <a:off x="822960" y="1280160"/>
            <a:ext cx="7315200" cy="274320"/>
          </a:xfrm>
          <a:prstGeom prst="rect">
            <a:avLst/>
          </a:prstGeom>
          <a:noFill/>
          <a:ln/>
        </p:spPr>
        <p:txBody>
          <a:bodyPr wrap="square" rtlCol="0" anchor="ctr"/>
          <a:lstStyle/>
          <a:p>
            <a:pPr marL="0" indent="0">
              <a:buNone/>
            </a:pPr>
            <a:r>
              <a:rPr lang="en-US" sz="1000" b="1" kern="0" spc="800" dirty="0">
                <a:solidFill>
                  <a:srgbClr val="C8763C"/>
                </a:solidFill>
                <a:latin typeface="Calibri" pitchFamily="34" charset="0"/>
                <a:ea typeface="Calibri" pitchFamily="34" charset="-122"/>
                <a:cs typeface="Calibri" pitchFamily="34" charset="-120"/>
              </a:rPr>
              <a:t>INTERNAL  ·  TEAM REFERENCE</a:t>
            </a:r>
            <a:endParaRPr lang="en-US" sz="1000" dirty="0"/>
          </a:p>
        </p:txBody>
      </p:sp>
      <p:sp>
        <p:nvSpPr>
          <p:cNvPr id="5" name="Text 3"/>
          <p:cNvSpPr/>
          <p:nvPr/>
        </p:nvSpPr>
        <p:spPr>
          <a:xfrm>
            <a:off x="822960" y="1691640"/>
            <a:ext cx="10058400" cy="1097280"/>
          </a:xfrm>
          <a:prstGeom prst="rect">
            <a:avLst/>
          </a:prstGeom>
          <a:noFill/>
          <a:ln/>
        </p:spPr>
        <p:txBody>
          <a:bodyPr wrap="square" rtlCol="0" anchor="ctr"/>
          <a:lstStyle/>
          <a:p>
            <a:pPr marL="0" indent="0">
              <a:buNone/>
            </a:pPr>
            <a:r>
              <a:rPr lang="en-US" sz="8400" b="1" kern="0" spc="800" dirty="0">
                <a:solidFill>
                  <a:srgbClr val="FFFFFF"/>
                </a:solidFill>
                <a:latin typeface="Georgia" pitchFamily="34" charset="0"/>
                <a:ea typeface="Georgia" pitchFamily="34" charset="-122"/>
                <a:cs typeface="Georgia" pitchFamily="34" charset="-120"/>
              </a:rPr>
              <a:t>PANTHEON</a:t>
            </a:r>
            <a:endParaRPr lang="en-US" sz="8400" dirty="0"/>
          </a:p>
        </p:txBody>
      </p:sp>
      <p:sp>
        <p:nvSpPr>
          <p:cNvPr id="6" name="Shape 4"/>
          <p:cNvSpPr/>
          <p:nvPr/>
        </p:nvSpPr>
        <p:spPr>
          <a:xfrm>
            <a:off x="822960" y="2971800"/>
            <a:ext cx="2286000" cy="0"/>
          </a:xfrm>
          <a:prstGeom prst="line">
            <a:avLst/>
          </a:prstGeom>
          <a:noFill/>
          <a:ln w="19050">
            <a:solidFill>
              <a:srgbClr val="C8763C"/>
            </a:solidFill>
            <a:prstDash val="solid"/>
          </a:ln>
        </p:spPr>
        <p:txBody>
          <a:bodyPr/>
          <a:lstStyle/>
          <a:p>
            <a:endParaRPr lang="en-US"/>
          </a:p>
        </p:txBody>
      </p:sp>
      <p:sp>
        <p:nvSpPr>
          <p:cNvPr id="7" name="Text 5"/>
          <p:cNvSpPr/>
          <p:nvPr/>
        </p:nvSpPr>
        <p:spPr>
          <a:xfrm>
            <a:off x="822960" y="3154680"/>
            <a:ext cx="10058400" cy="548640"/>
          </a:xfrm>
          <a:prstGeom prst="rect">
            <a:avLst/>
          </a:prstGeom>
          <a:noFill/>
          <a:ln/>
        </p:spPr>
        <p:txBody>
          <a:bodyPr wrap="square" rtlCol="0" anchor="ctr"/>
          <a:lstStyle/>
          <a:p>
            <a:pPr marL="0" indent="0">
              <a:buNone/>
            </a:pPr>
            <a:r>
              <a:rPr lang="en-US" sz="3000" i="1" dirty="0">
                <a:solidFill>
                  <a:srgbClr val="CADCFC"/>
                </a:solidFill>
                <a:latin typeface="Georgia" pitchFamily="34" charset="0"/>
                <a:ea typeface="Georgia" pitchFamily="34" charset="-122"/>
                <a:cs typeface="Georgia" pitchFamily="34" charset="-120"/>
              </a:rPr>
              <a:t>Piracy Intelligence Extraction</a:t>
            </a:r>
            <a:endParaRPr lang="en-US" sz="3000" dirty="0"/>
          </a:p>
        </p:txBody>
      </p:sp>
      <p:sp>
        <p:nvSpPr>
          <p:cNvPr id="8" name="Text 6"/>
          <p:cNvSpPr/>
          <p:nvPr/>
        </p:nvSpPr>
        <p:spPr>
          <a:xfrm>
            <a:off x="822960" y="3886200"/>
            <a:ext cx="8686800" cy="1097280"/>
          </a:xfrm>
          <a:prstGeom prst="rect">
            <a:avLst/>
          </a:prstGeom>
          <a:noFill/>
          <a:ln/>
        </p:spPr>
        <p:txBody>
          <a:bodyPr wrap="square" rtlCol="0" anchor="ctr"/>
          <a:lstStyle/>
          <a:p>
            <a:pPr marL="0" indent="0">
              <a:lnSpc>
                <a:spcPct val="135000"/>
              </a:lnSpc>
              <a:buNone/>
            </a:pPr>
            <a:r>
              <a:rPr lang="en-US" sz="1600" dirty="0">
                <a:solidFill>
                  <a:srgbClr val="B8C5DB"/>
                </a:solidFill>
                <a:latin typeface="Calibri" pitchFamily="34" charset="0"/>
                <a:ea typeface="Calibri" pitchFamily="34" charset="-122"/>
                <a:cs typeface="Calibri" pitchFamily="34" charset="-120"/>
              </a:rPr>
              <a:t>How we track content piracy across the BitTorrent network — what we collect, how it flows, and what the team can do with it.</a:t>
            </a:r>
            <a:endParaRPr lang="en-US" sz="1600" dirty="0"/>
          </a:p>
        </p:txBody>
      </p:sp>
      <p:sp>
        <p:nvSpPr>
          <p:cNvPr id="9" name="Shape 7"/>
          <p:cNvSpPr/>
          <p:nvPr/>
        </p:nvSpPr>
        <p:spPr>
          <a:xfrm>
            <a:off x="822960" y="5669280"/>
            <a:ext cx="10543032" cy="0"/>
          </a:xfrm>
          <a:prstGeom prst="line">
            <a:avLst/>
          </a:prstGeom>
          <a:noFill/>
          <a:ln w="9525">
            <a:solidFill>
              <a:srgbClr val="1E3559"/>
            </a:solidFill>
            <a:prstDash val="solid"/>
          </a:ln>
        </p:spPr>
        <p:txBody>
          <a:bodyPr/>
          <a:lstStyle/>
          <a:p>
            <a:endParaRPr lang="en-US"/>
          </a:p>
        </p:txBody>
      </p:sp>
      <p:sp>
        <p:nvSpPr>
          <p:cNvPr id="10" name="Text 8"/>
          <p:cNvSpPr/>
          <p:nvPr/>
        </p:nvSpPr>
        <p:spPr>
          <a:xfrm>
            <a:off x="822960" y="5852160"/>
            <a:ext cx="2743200" cy="320040"/>
          </a:xfrm>
          <a:prstGeom prst="rect">
            <a:avLst/>
          </a:prstGeom>
          <a:noFill/>
          <a:ln/>
        </p:spPr>
        <p:txBody>
          <a:bodyPr wrap="square"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May 2026</a:t>
            </a:r>
            <a:endParaRPr lang="en-US" sz="1100" dirty="0"/>
          </a:p>
        </p:txBody>
      </p:sp>
      <p:sp>
        <p:nvSpPr>
          <p:cNvPr id="11" name="Text 9"/>
          <p:cNvSpPr/>
          <p:nvPr/>
        </p:nvSpPr>
        <p:spPr>
          <a:xfrm>
            <a:off x="822960" y="6172200"/>
            <a:ext cx="3657600" cy="274320"/>
          </a:xfrm>
          <a:prstGeom prst="rect">
            <a:avLst/>
          </a:prstGeom>
          <a:noFill/>
          <a:ln/>
        </p:spPr>
        <p:txBody>
          <a:bodyPr wrap="square" rtlCol="0" anchor="ctr"/>
          <a:lstStyle/>
          <a:p>
            <a:pPr marL="0" indent="0">
              <a:buNone/>
            </a:pPr>
            <a:r>
              <a:rPr lang="en-US" sz="900" kern="0" spc="600" dirty="0">
                <a:solidFill>
                  <a:srgbClr val="8B95A7"/>
                </a:solidFill>
                <a:latin typeface="Calibri" pitchFamily="34" charset="0"/>
                <a:ea typeface="Calibri" pitchFamily="34" charset="-122"/>
                <a:cs typeface="Calibri" pitchFamily="34" charset="-120"/>
              </a:rPr>
              <a:t>TEAM REFERENCE DOCUMENT</a:t>
            </a:r>
            <a:endParaRPr lang="en-US" sz="900" dirty="0"/>
          </a:p>
        </p:txBody>
      </p:sp>
      <p:sp>
        <p:nvSpPr>
          <p:cNvPr id="12" name="Text 10"/>
          <p:cNvSpPr/>
          <p:nvPr/>
        </p:nvSpPr>
        <p:spPr>
          <a:xfrm>
            <a:off x="10360152" y="5852160"/>
            <a:ext cx="1097280" cy="320040"/>
          </a:xfrm>
          <a:prstGeom prst="rect">
            <a:avLst/>
          </a:prstGeom>
          <a:noFill/>
          <a:ln/>
        </p:spPr>
        <p:txBody>
          <a:bodyPr wrap="square" rtlCol="0" anchor="ctr"/>
          <a:lstStyle/>
          <a:p>
            <a:pPr marL="0" indent="0" algn="r">
              <a:buNone/>
            </a:pPr>
            <a:r>
              <a:rPr lang="en-US" sz="1100" dirty="0">
                <a:solidFill>
                  <a:srgbClr val="C8763C"/>
                </a:solidFill>
                <a:latin typeface="Consolas" pitchFamily="34" charset="0"/>
                <a:ea typeface="Consolas" pitchFamily="34" charset="-122"/>
                <a:cs typeface="Consolas" pitchFamily="34" charset="-120"/>
              </a:rPr>
              <a:t>v1.3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502920"/>
            <a:ext cx="5486400" cy="320040"/>
          </a:xfrm>
          <a:prstGeom prst="rect">
            <a:avLst/>
          </a:prstGeom>
          <a:noFill/>
          <a:ln/>
        </p:spPr>
        <p:txBody>
          <a:bodyPr wrap="square" rtlCol="0" anchor="ctr"/>
          <a:lstStyle/>
          <a:p>
            <a:pPr marL="0" indent="0">
              <a:buNone/>
            </a:pPr>
            <a:r>
              <a:rPr lang="en-US" sz="1000" b="1" kern="0" spc="800" dirty="0">
                <a:solidFill>
                  <a:srgbClr val="C8763C"/>
                </a:solidFill>
                <a:latin typeface="Calibri" pitchFamily="34" charset="0"/>
                <a:ea typeface="Calibri" pitchFamily="34" charset="-122"/>
                <a:cs typeface="Calibri" pitchFamily="34" charset="-120"/>
              </a:rPr>
              <a:t>AT A GLANCE</a:t>
            </a:r>
            <a:endParaRPr lang="en-US" sz="1000" dirty="0"/>
          </a:p>
        </p:txBody>
      </p:sp>
      <p:sp>
        <p:nvSpPr>
          <p:cNvPr id="4" name="Text 2"/>
          <p:cNvSpPr/>
          <p:nvPr/>
        </p:nvSpPr>
        <p:spPr>
          <a:xfrm>
            <a:off x="457200" y="777240"/>
            <a:ext cx="105156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The Numbers Behind the System</a:t>
            </a:r>
            <a:endParaRPr lang="en-US" sz="2600" dirty="0"/>
          </a:p>
        </p:txBody>
      </p:sp>
      <p:sp>
        <p:nvSpPr>
          <p:cNvPr id="5" name="Shape 3"/>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6" name="Text 4"/>
          <p:cNvSpPr/>
          <p:nvPr/>
        </p:nvSpPr>
        <p:spPr>
          <a:xfrm>
            <a:off x="457200" y="1600200"/>
            <a:ext cx="11274552" cy="731520"/>
          </a:xfrm>
          <a:prstGeom prst="rect">
            <a:avLst/>
          </a:prstGeom>
          <a:noFill/>
          <a:ln/>
        </p:spPr>
        <p:txBody>
          <a:bodyPr wrap="square" rtlCol="0" anchor="ctr"/>
          <a:lstStyle/>
          <a:p>
            <a:pPr marL="0" indent="0">
              <a:lnSpc>
                <a:spcPct val="130000"/>
              </a:lnSpc>
              <a:buNone/>
            </a:pPr>
            <a:r>
              <a:rPr lang="en-US" sz="1400" i="1" dirty="0">
                <a:solidFill>
                  <a:srgbClr val="5A5A5A"/>
                </a:solidFill>
                <a:latin typeface="Calibri" pitchFamily="34" charset="0"/>
                <a:ea typeface="Calibri" pitchFamily="34" charset="-122"/>
                <a:cs typeface="Calibri" pitchFamily="34" charset="-120"/>
              </a:rPr>
              <a:t>Pantheon listens to the BitTorrent network continuously — counting active sharers of pirated movies, TV, and anime across every populated country on earth.</a:t>
            </a:r>
            <a:endParaRPr lang="en-US" sz="1400" dirty="0"/>
          </a:p>
        </p:txBody>
      </p:sp>
      <p:sp>
        <p:nvSpPr>
          <p:cNvPr id="7" name="Shape 5"/>
          <p:cNvSpPr/>
          <p:nvPr/>
        </p:nvSpPr>
        <p:spPr>
          <a:xfrm>
            <a:off x="457200" y="2743200"/>
            <a:ext cx="3575304" cy="3108960"/>
          </a:xfrm>
          <a:prstGeom prst="rect">
            <a:avLst/>
          </a:prstGeom>
          <a:solidFill>
            <a:srgbClr val="FBF8F2"/>
          </a:solidFill>
          <a:ln w="9525">
            <a:solidFill>
              <a:srgbClr val="E6E0D2"/>
            </a:solidFill>
            <a:prstDash val="solid"/>
          </a:ln>
        </p:spPr>
        <p:txBody>
          <a:bodyPr/>
          <a:lstStyle/>
          <a:p>
            <a:endParaRPr lang="en-US"/>
          </a:p>
        </p:txBody>
      </p:sp>
      <p:sp>
        <p:nvSpPr>
          <p:cNvPr id="8" name="Shape 6"/>
          <p:cNvSpPr/>
          <p:nvPr/>
        </p:nvSpPr>
        <p:spPr>
          <a:xfrm>
            <a:off x="457200" y="2743200"/>
            <a:ext cx="3575304" cy="73152"/>
          </a:xfrm>
          <a:prstGeom prst="rect">
            <a:avLst/>
          </a:prstGeom>
          <a:solidFill>
            <a:srgbClr val="C8763C"/>
          </a:solidFill>
          <a:ln w="12700">
            <a:solidFill>
              <a:srgbClr val="C8763C"/>
            </a:solidFill>
            <a:prstDash val="solid"/>
          </a:ln>
        </p:spPr>
        <p:txBody>
          <a:bodyPr/>
          <a:lstStyle/>
          <a:p>
            <a:endParaRPr lang="en-US"/>
          </a:p>
        </p:txBody>
      </p:sp>
      <p:sp>
        <p:nvSpPr>
          <p:cNvPr id="9" name="Text 7"/>
          <p:cNvSpPr/>
          <p:nvPr/>
        </p:nvSpPr>
        <p:spPr>
          <a:xfrm>
            <a:off x="685800" y="3154680"/>
            <a:ext cx="457200" cy="365760"/>
          </a:xfrm>
          <a:prstGeom prst="rect">
            <a:avLst/>
          </a:prstGeom>
          <a:noFill/>
          <a:ln/>
        </p:spPr>
        <p:txBody>
          <a:bodyPr wrap="square" rtlCol="0" anchor="t"/>
          <a:lstStyle/>
          <a:p>
            <a:pPr marL="0" indent="0">
              <a:buNone/>
            </a:pPr>
            <a:r>
              <a:rPr lang="en-US" sz="2200" i="1" dirty="0">
                <a:solidFill>
                  <a:srgbClr val="C8763C"/>
                </a:solidFill>
                <a:latin typeface="Georgia" pitchFamily="34" charset="0"/>
                <a:ea typeface="Georgia" pitchFamily="34" charset="-122"/>
                <a:cs typeface="Georgia" pitchFamily="34" charset="-120"/>
              </a:rPr>
              <a:t>~</a:t>
            </a:r>
            <a:endParaRPr lang="en-US" sz="2200" dirty="0"/>
          </a:p>
        </p:txBody>
      </p:sp>
      <p:sp>
        <p:nvSpPr>
          <p:cNvPr id="10" name="Text 8"/>
          <p:cNvSpPr/>
          <p:nvPr/>
        </p:nvSpPr>
        <p:spPr>
          <a:xfrm>
            <a:off x="640080" y="3383280"/>
            <a:ext cx="3209544" cy="1280160"/>
          </a:xfrm>
          <a:prstGeom prst="rect">
            <a:avLst/>
          </a:prstGeom>
          <a:noFill/>
          <a:ln/>
        </p:spPr>
        <p:txBody>
          <a:bodyPr wrap="square" rtlCol="0" anchor="ctr"/>
          <a:lstStyle/>
          <a:p>
            <a:pPr marL="0" indent="0" algn="l">
              <a:buNone/>
            </a:pPr>
            <a:r>
              <a:rPr lang="en-US" sz="5200" b="1" dirty="0">
                <a:solidFill>
                  <a:srgbClr val="0B1F3A"/>
                </a:solidFill>
                <a:latin typeface="Georgia" pitchFamily="34" charset="0"/>
                <a:ea typeface="Georgia" pitchFamily="34" charset="-122"/>
                <a:cs typeface="Georgia" pitchFamily="34" charset="-120"/>
              </a:rPr>
              <a:t>70,000</a:t>
            </a:r>
            <a:endParaRPr lang="en-US" sz="5200" dirty="0"/>
          </a:p>
        </p:txBody>
      </p:sp>
      <p:sp>
        <p:nvSpPr>
          <p:cNvPr id="11" name="Text 9"/>
          <p:cNvSpPr/>
          <p:nvPr/>
        </p:nvSpPr>
        <p:spPr>
          <a:xfrm>
            <a:off x="640080" y="4709160"/>
            <a:ext cx="3209544" cy="365760"/>
          </a:xfrm>
          <a:prstGeom prst="rect">
            <a:avLst/>
          </a:prstGeom>
          <a:noFill/>
          <a:ln/>
        </p:spPr>
        <p:txBody>
          <a:bodyPr wrap="square" rtlCol="0" anchor="ctr"/>
          <a:lstStyle/>
          <a:p>
            <a:pPr marL="0" indent="0">
              <a:buNone/>
            </a:pPr>
            <a:r>
              <a:rPr lang="en-US" sz="1000" b="1" kern="0" spc="600" dirty="0">
                <a:solidFill>
                  <a:srgbClr val="C8763C"/>
                </a:solidFill>
                <a:latin typeface="Calibri" pitchFamily="34" charset="0"/>
                <a:ea typeface="Calibri" pitchFamily="34" charset="-122"/>
                <a:cs typeface="Calibri" pitchFamily="34" charset="-120"/>
              </a:rPr>
              <a:t>TITLES MONITORED DAILY</a:t>
            </a:r>
            <a:endParaRPr lang="en-US" sz="1000" dirty="0"/>
          </a:p>
        </p:txBody>
      </p:sp>
      <p:sp>
        <p:nvSpPr>
          <p:cNvPr id="12" name="Text 10"/>
          <p:cNvSpPr/>
          <p:nvPr/>
        </p:nvSpPr>
        <p:spPr>
          <a:xfrm>
            <a:off x="640080" y="5074920"/>
            <a:ext cx="3209544" cy="731520"/>
          </a:xfrm>
          <a:prstGeom prst="rect">
            <a:avLst/>
          </a:prstGeom>
          <a:noFill/>
          <a:ln/>
        </p:spPr>
        <p:txBody>
          <a:bodyPr wrap="square" rtlCol="0" anchor="ctr"/>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Movies, series, and anime tracked continuously across all major piracy networks.</a:t>
            </a:r>
            <a:endParaRPr lang="en-US" sz="1100" dirty="0"/>
          </a:p>
        </p:txBody>
      </p:sp>
      <p:sp>
        <p:nvSpPr>
          <p:cNvPr id="13" name="Shape 11"/>
          <p:cNvSpPr/>
          <p:nvPr/>
        </p:nvSpPr>
        <p:spPr>
          <a:xfrm>
            <a:off x="4306824" y="2743200"/>
            <a:ext cx="3575304" cy="3108960"/>
          </a:xfrm>
          <a:prstGeom prst="rect">
            <a:avLst/>
          </a:prstGeom>
          <a:solidFill>
            <a:srgbClr val="FBF8F2"/>
          </a:solidFill>
          <a:ln w="9525">
            <a:solidFill>
              <a:srgbClr val="E6E0D2"/>
            </a:solidFill>
            <a:prstDash val="solid"/>
          </a:ln>
        </p:spPr>
        <p:txBody>
          <a:bodyPr/>
          <a:lstStyle/>
          <a:p>
            <a:endParaRPr lang="en-US"/>
          </a:p>
        </p:txBody>
      </p:sp>
      <p:sp>
        <p:nvSpPr>
          <p:cNvPr id="14" name="Shape 12"/>
          <p:cNvSpPr/>
          <p:nvPr/>
        </p:nvSpPr>
        <p:spPr>
          <a:xfrm>
            <a:off x="4306824" y="2743200"/>
            <a:ext cx="3575304" cy="73152"/>
          </a:xfrm>
          <a:prstGeom prst="rect">
            <a:avLst/>
          </a:prstGeom>
          <a:solidFill>
            <a:srgbClr val="C8763C"/>
          </a:solidFill>
          <a:ln w="12700">
            <a:solidFill>
              <a:srgbClr val="C8763C"/>
            </a:solidFill>
            <a:prstDash val="solid"/>
          </a:ln>
        </p:spPr>
        <p:txBody>
          <a:bodyPr/>
          <a:lstStyle/>
          <a:p>
            <a:endParaRPr lang="en-US"/>
          </a:p>
        </p:txBody>
      </p:sp>
      <p:sp>
        <p:nvSpPr>
          <p:cNvPr id="15" name="Text 13"/>
          <p:cNvSpPr/>
          <p:nvPr/>
        </p:nvSpPr>
        <p:spPr>
          <a:xfrm>
            <a:off x="4489704" y="3383280"/>
            <a:ext cx="3209544" cy="1280160"/>
          </a:xfrm>
          <a:prstGeom prst="rect">
            <a:avLst/>
          </a:prstGeom>
          <a:noFill/>
          <a:ln/>
        </p:spPr>
        <p:txBody>
          <a:bodyPr wrap="square" rtlCol="0" anchor="ctr"/>
          <a:lstStyle/>
          <a:p>
            <a:pPr marL="0" indent="0" algn="l">
              <a:buNone/>
            </a:pPr>
            <a:r>
              <a:rPr lang="en-US" sz="5200" b="1" dirty="0">
                <a:solidFill>
                  <a:srgbClr val="0B1F3A"/>
                </a:solidFill>
                <a:latin typeface="Georgia" pitchFamily="34" charset="0"/>
                <a:ea typeface="Georgia" pitchFamily="34" charset="-122"/>
                <a:cs typeface="Georgia" pitchFamily="34" charset="-120"/>
              </a:rPr>
              <a:t>3+</a:t>
            </a:r>
            <a:endParaRPr lang="en-US" sz="5200" dirty="0"/>
          </a:p>
        </p:txBody>
      </p:sp>
      <p:sp>
        <p:nvSpPr>
          <p:cNvPr id="16" name="Text 14"/>
          <p:cNvSpPr/>
          <p:nvPr/>
        </p:nvSpPr>
        <p:spPr>
          <a:xfrm>
            <a:off x="4489704" y="4709160"/>
            <a:ext cx="3209544" cy="365760"/>
          </a:xfrm>
          <a:prstGeom prst="rect">
            <a:avLst/>
          </a:prstGeom>
          <a:noFill/>
          <a:ln/>
        </p:spPr>
        <p:txBody>
          <a:bodyPr wrap="square" rtlCol="0" anchor="ctr"/>
          <a:lstStyle/>
          <a:p>
            <a:pPr marL="0" indent="0">
              <a:buNone/>
            </a:pPr>
            <a:r>
              <a:rPr lang="en-US" sz="1000" b="1" kern="0" spc="600" dirty="0">
                <a:solidFill>
                  <a:srgbClr val="C8763C"/>
                </a:solidFill>
                <a:latin typeface="Calibri" pitchFamily="34" charset="0"/>
                <a:ea typeface="Calibri" pitchFamily="34" charset="-122"/>
                <a:cs typeface="Calibri" pitchFamily="34" charset="-120"/>
              </a:rPr>
              <a:t>FULL SCANS PER DAY</a:t>
            </a:r>
            <a:endParaRPr lang="en-US" sz="1000" dirty="0"/>
          </a:p>
        </p:txBody>
      </p:sp>
      <p:sp>
        <p:nvSpPr>
          <p:cNvPr id="17" name="Text 15"/>
          <p:cNvSpPr/>
          <p:nvPr/>
        </p:nvSpPr>
        <p:spPr>
          <a:xfrm>
            <a:off x="4489704" y="5074920"/>
            <a:ext cx="3209544" cy="731520"/>
          </a:xfrm>
          <a:prstGeom prst="rect">
            <a:avLst/>
          </a:prstGeom>
          <a:noFill/>
          <a:ln/>
        </p:spPr>
        <p:txBody>
          <a:bodyPr wrap="square" rtlCol="0" anchor="ctr"/>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The DHT is swept multiple times daily for live peer counts on every known hash.</a:t>
            </a:r>
            <a:endParaRPr lang="en-US" sz="1100" dirty="0"/>
          </a:p>
        </p:txBody>
      </p:sp>
      <p:sp>
        <p:nvSpPr>
          <p:cNvPr id="18" name="Shape 16"/>
          <p:cNvSpPr/>
          <p:nvPr/>
        </p:nvSpPr>
        <p:spPr>
          <a:xfrm>
            <a:off x="8156448" y="2743200"/>
            <a:ext cx="3575304" cy="3108960"/>
          </a:xfrm>
          <a:prstGeom prst="rect">
            <a:avLst/>
          </a:prstGeom>
          <a:solidFill>
            <a:srgbClr val="FBF8F2"/>
          </a:solidFill>
          <a:ln w="9525">
            <a:solidFill>
              <a:srgbClr val="E6E0D2"/>
            </a:solidFill>
            <a:prstDash val="solid"/>
          </a:ln>
        </p:spPr>
        <p:txBody>
          <a:bodyPr/>
          <a:lstStyle/>
          <a:p>
            <a:endParaRPr lang="en-US"/>
          </a:p>
        </p:txBody>
      </p:sp>
      <p:sp>
        <p:nvSpPr>
          <p:cNvPr id="19" name="Shape 17"/>
          <p:cNvSpPr/>
          <p:nvPr/>
        </p:nvSpPr>
        <p:spPr>
          <a:xfrm>
            <a:off x="8156448" y="2743200"/>
            <a:ext cx="3575304" cy="73152"/>
          </a:xfrm>
          <a:prstGeom prst="rect">
            <a:avLst/>
          </a:prstGeom>
          <a:solidFill>
            <a:srgbClr val="C8763C"/>
          </a:solidFill>
          <a:ln w="12700">
            <a:solidFill>
              <a:srgbClr val="C8763C"/>
            </a:solidFill>
            <a:prstDash val="solid"/>
          </a:ln>
        </p:spPr>
        <p:txBody>
          <a:bodyPr/>
          <a:lstStyle/>
          <a:p>
            <a:endParaRPr lang="en-US"/>
          </a:p>
        </p:txBody>
      </p:sp>
      <p:sp>
        <p:nvSpPr>
          <p:cNvPr id="20" name="Text 18"/>
          <p:cNvSpPr/>
          <p:nvPr/>
        </p:nvSpPr>
        <p:spPr>
          <a:xfrm>
            <a:off x="8339328" y="3383280"/>
            <a:ext cx="3209544" cy="1280160"/>
          </a:xfrm>
          <a:prstGeom prst="rect">
            <a:avLst/>
          </a:prstGeom>
          <a:noFill/>
          <a:ln/>
        </p:spPr>
        <p:txBody>
          <a:bodyPr wrap="square" rtlCol="0" anchor="ctr"/>
          <a:lstStyle/>
          <a:p>
            <a:pPr marL="0" indent="0" algn="l">
              <a:buNone/>
            </a:pPr>
            <a:r>
              <a:rPr lang="en-US" sz="5200" b="1" dirty="0">
                <a:solidFill>
                  <a:srgbClr val="0B1F3A"/>
                </a:solidFill>
                <a:latin typeface="Georgia" pitchFamily="34" charset="0"/>
                <a:ea typeface="Georgia" pitchFamily="34" charset="-122"/>
                <a:cs typeface="Georgia" pitchFamily="34" charset="-120"/>
              </a:rPr>
              <a:t>200+</a:t>
            </a:r>
            <a:endParaRPr lang="en-US" sz="5200" dirty="0"/>
          </a:p>
        </p:txBody>
      </p:sp>
      <p:sp>
        <p:nvSpPr>
          <p:cNvPr id="21" name="Text 19"/>
          <p:cNvSpPr/>
          <p:nvPr/>
        </p:nvSpPr>
        <p:spPr>
          <a:xfrm>
            <a:off x="8339328" y="4709160"/>
            <a:ext cx="3209544" cy="365760"/>
          </a:xfrm>
          <a:prstGeom prst="rect">
            <a:avLst/>
          </a:prstGeom>
          <a:noFill/>
          <a:ln/>
        </p:spPr>
        <p:txBody>
          <a:bodyPr wrap="square" rtlCol="0" anchor="ctr"/>
          <a:lstStyle/>
          <a:p>
            <a:pPr marL="0" indent="0">
              <a:buNone/>
            </a:pPr>
            <a:r>
              <a:rPr lang="en-US" sz="1000" b="1" kern="0" spc="600" dirty="0">
                <a:solidFill>
                  <a:srgbClr val="C8763C"/>
                </a:solidFill>
                <a:latin typeface="Calibri" pitchFamily="34" charset="0"/>
                <a:ea typeface="Calibri" pitchFamily="34" charset="-122"/>
                <a:cs typeface="Calibri" pitchFamily="34" charset="-120"/>
              </a:rPr>
              <a:t>COUNTRIES TRACKED</a:t>
            </a:r>
            <a:endParaRPr lang="en-US" sz="1000" dirty="0"/>
          </a:p>
        </p:txBody>
      </p:sp>
      <p:sp>
        <p:nvSpPr>
          <p:cNvPr id="22" name="Text 20"/>
          <p:cNvSpPr/>
          <p:nvPr/>
        </p:nvSpPr>
        <p:spPr>
          <a:xfrm>
            <a:off x="8339328" y="5074920"/>
            <a:ext cx="3209544" cy="731520"/>
          </a:xfrm>
          <a:prstGeom prst="rect">
            <a:avLst/>
          </a:prstGeom>
          <a:noFill/>
          <a:ln/>
        </p:spPr>
        <p:txBody>
          <a:bodyPr wrap="square" rtlCol="0" anchor="ctr"/>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Every active sharer is geolocated to country level via a maintained IP database.</a:t>
            </a:r>
            <a:endParaRPr lang="en-US" sz="1100" dirty="0"/>
          </a:p>
        </p:txBody>
      </p:sp>
      <p:sp>
        <p:nvSpPr>
          <p:cNvPr id="23" name="Shape 21"/>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24" name="Text 22"/>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25" name="Text 23"/>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26" name="Text 24"/>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01</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MISSION</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What We Are Doing</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Text 5"/>
          <p:cNvSpPr/>
          <p:nvPr/>
        </p:nvSpPr>
        <p:spPr>
          <a:xfrm>
            <a:off x="457200" y="1783080"/>
            <a:ext cx="6858000" cy="1463040"/>
          </a:xfrm>
          <a:prstGeom prst="rect">
            <a:avLst/>
          </a:prstGeom>
          <a:noFill/>
          <a:ln/>
        </p:spPr>
        <p:txBody>
          <a:bodyPr wrap="square" rtlCol="0" anchor="ctr"/>
          <a:lstStyle/>
          <a:p>
            <a:pPr marL="0" indent="0">
              <a:lnSpc>
                <a:spcPct val="145000"/>
              </a:lnSpc>
              <a:buNone/>
            </a:pPr>
            <a:r>
              <a:rPr lang="en-US" sz="1500" dirty="0">
                <a:solidFill>
                  <a:srgbClr val="1A1A1A"/>
                </a:solidFill>
                <a:latin typeface="Calibri" pitchFamily="34" charset="0"/>
                <a:ea typeface="Calibri" pitchFamily="34" charset="-122"/>
                <a:cs typeface="Calibri" pitchFamily="34" charset="-120"/>
              </a:rPr>
              <a:t>Pantheon monitors online piracy of movies, TV shows, and anime in real time. We track which titles are being shared illegally, how many people are sharing them, and where in the world those people are located.</a:t>
            </a:r>
            <a:endParaRPr lang="en-US" sz="1500" dirty="0"/>
          </a:p>
        </p:txBody>
      </p:sp>
      <p:sp>
        <p:nvSpPr>
          <p:cNvPr id="8" name="Text 6"/>
          <p:cNvSpPr/>
          <p:nvPr/>
        </p:nvSpPr>
        <p:spPr>
          <a:xfrm>
            <a:off x="457200" y="3383280"/>
            <a:ext cx="6858000" cy="1645920"/>
          </a:xfrm>
          <a:prstGeom prst="rect">
            <a:avLst/>
          </a:prstGeom>
          <a:noFill/>
          <a:ln/>
        </p:spPr>
        <p:txBody>
          <a:bodyPr wrap="square" rtlCol="0" anchor="ctr"/>
          <a:lstStyle/>
          <a:p>
            <a:pPr marL="0" indent="0">
              <a:lnSpc>
                <a:spcPct val="145000"/>
              </a:lnSpc>
              <a:buNone/>
            </a:pPr>
            <a:r>
              <a:rPr lang="en-US" sz="1500" dirty="0">
                <a:solidFill>
                  <a:srgbClr val="1A1A1A"/>
                </a:solidFill>
                <a:latin typeface="Calibri" pitchFamily="34" charset="0"/>
                <a:ea typeface="Calibri" pitchFamily="34" charset="-122"/>
                <a:cs typeface="Calibri" pitchFamily="34" charset="-120"/>
              </a:rPr>
              <a:t>We do this by listening to the BitTorrent network — the same network used by piracy sites like The Pirate Bay. Every piece of pirated content leaves a digital fingerprint on this network. We collect and count those fingerprints every day.</a:t>
            </a:r>
            <a:endParaRPr lang="en-US" sz="1500" dirty="0"/>
          </a:p>
        </p:txBody>
      </p:sp>
      <p:sp>
        <p:nvSpPr>
          <p:cNvPr id="9" name="Shape 7"/>
          <p:cNvSpPr/>
          <p:nvPr/>
        </p:nvSpPr>
        <p:spPr>
          <a:xfrm>
            <a:off x="7863840" y="1783080"/>
            <a:ext cx="3840480" cy="4114800"/>
          </a:xfrm>
          <a:prstGeom prst="rect">
            <a:avLst/>
          </a:prstGeom>
          <a:solidFill>
            <a:srgbClr val="0B1F3A"/>
          </a:solidFill>
          <a:ln w="12700">
            <a:solidFill>
              <a:srgbClr val="0B1F3A"/>
            </a:solidFill>
            <a:prstDash val="solid"/>
          </a:ln>
        </p:spPr>
        <p:txBody>
          <a:bodyPr/>
          <a:lstStyle/>
          <a:p>
            <a:endParaRPr lang="en-US"/>
          </a:p>
        </p:txBody>
      </p:sp>
      <p:sp>
        <p:nvSpPr>
          <p:cNvPr id="10" name="Shape 8"/>
          <p:cNvSpPr/>
          <p:nvPr/>
        </p:nvSpPr>
        <p:spPr>
          <a:xfrm>
            <a:off x="7863840" y="1783080"/>
            <a:ext cx="73152" cy="4114800"/>
          </a:xfrm>
          <a:prstGeom prst="rect">
            <a:avLst/>
          </a:prstGeom>
          <a:solidFill>
            <a:srgbClr val="C8763C"/>
          </a:solidFill>
          <a:ln w="12700">
            <a:solidFill>
              <a:srgbClr val="C8763C"/>
            </a:solidFill>
            <a:prstDash val="solid"/>
          </a:ln>
        </p:spPr>
        <p:txBody>
          <a:bodyPr/>
          <a:lstStyle/>
          <a:p>
            <a:endParaRPr lang="en-US"/>
          </a:p>
        </p:txBody>
      </p:sp>
      <p:sp>
        <p:nvSpPr>
          <p:cNvPr id="11" name="Text 9"/>
          <p:cNvSpPr/>
          <p:nvPr/>
        </p:nvSpPr>
        <p:spPr>
          <a:xfrm>
            <a:off x="8138160" y="2011680"/>
            <a:ext cx="3474720" cy="274320"/>
          </a:xfrm>
          <a:prstGeom prst="rect">
            <a:avLst/>
          </a:prstGeom>
          <a:noFill/>
          <a:ln/>
        </p:spPr>
        <p:txBody>
          <a:bodyPr wrap="square" rtlCol="0" anchor="ctr"/>
          <a:lstStyle/>
          <a:p>
            <a:pPr marL="0" indent="0">
              <a:buNone/>
            </a:pPr>
            <a:r>
              <a:rPr lang="en-US" sz="900" b="1" kern="0" spc="600" dirty="0">
                <a:solidFill>
                  <a:srgbClr val="C8763C"/>
                </a:solidFill>
                <a:latin typeface="Calibri" pitchFamily="34" charset="0"/>
                <a:ea typeface="Calibri" pitchFamily="34" charset="-122"/>
                <a:cs typeface="Calibri" pitchFamily="34" charset="-120"/>
              </a:rPr>
              <a:t>KEY IDEA</a:t>
            </a:r>
            <a:endParaRPr lang="en-US" sz="900" dirty="0"/>
          </a:p>
        </p:txBody>
      </p:sp>
      <p:sp>
        <p:nvSpPr>
          <p:cNvPr id="12" name="Text 10"/>
          <p:cNvSpPr/>
          <p:nvPr/>
        </p:nvSpPr>
        <p:spPr>
          <a:xfrm>
            <a:off x="8138160" y="2377440"/>
            <a:ext cx="3474720" cy="1463040"/>
          </a:xfrm>
          <a:prstGeom prst="rect">
            <a:avLst/>
          </a:prstGeom>
          <a:noFill/>
          <a:ln/>
        </p:spPr>
        <p:txBody>
          <a:bodyPr wrap="square" rtlCol="0" anchor="ctr"/>
          <a:lstStyle/>
          <a:p>
            <a:pPr marL="0" indent="0">
              <a:lnSpc>
                <a:spcPct val="125000"/>
              </a:lnSpc>
              <a:buNone/>
            </a:pPr>
            <a:r>
              <a:rPr lang="en-US" sz="2000" i="1" dirty="0">
                <a:solidFill>
                  <a:srgbClr val="FFFFFF"/>
                </a:solidFill>
                <a:latin typeface="Georgia" pitchFamily="34" charset="0"/>
                <a:ea typeface="Georgia" pitchFamily="34" charset="-122"/>
                <a:cs typeface="Georgia" pitchFamily="34" charset="-120"/>
              </a:rPr>
              <a:t>Every pirated file has a unique 40-character fingerprint.</a:t>
            </a:r>
            <a:endParaRPr lang="en-US" sz="2000" dirty="0"/>
          </a:p>
        </p:txBody>
      </p:sp>
      <p:sp>
        <p:nvSpPr>
          <p:cNvPr id="13" name="Shape 11"/>
          <p:cNvSpPr/>
          <p:nvPr/>
        </p:nvSpPr>
        <p:spPr>
          <a:xfrm>
            <a:off x="8138160" y="4114800"/>
            <a:ext cx="914400" cy="0"/>
          </a:xfrm>
          <a:prstGeom prst="line">
            <a:avLst/>
          </a:prstGeom>
          <a:noFill/>
          <a:ln w="12700">
            <a:solidFill>
              <a:srgbClr val="C8763C"/>
            </a:solidFill>
            <a:prstDash val="solid"/>
          </a:ln>
        </p:spPr>
        <p:txBody>
          <a:bodyPr/>
          <a:lstStyle/>
          <a:p>
            <a:endParaRPr lang="en-US"/>
          </a:p>
        </p:txBody>
      </p:sp>
      <p:sp>
        <p:nvSpPr>
          <p:cNvPr id="14" name="Text 12"/>
          <p:cNvSpPr/>
          <p:nvPr/>
        </p:nvSpPr>
        <p:spPr>
          <a:xfrm>
            <a:off x="8138160" y="4297680"/>
            <a:ext cx="3474720" cy="1554480"/>
          </a:xfrm>
          <a:prstGeom prst="rect">
            <a:avLst/>
          </a:prstGeom>
          <a:noFill/>
          <a:ln/>
        </p:spPr>
        <p:txBody>
          <a:bodyPr wrap="square" rtlCol="0" anchor="ctr"/>
          <a:lstStyle/>
          <a:p>
            <a:pPr marL="0" indent="0">
              <a:lnSpc>
                <a:spcPct val="140000"/>
              </a:lnSpc>
              <a:buNone/>
            </a:pPr>
            <a:r>
              <a:rPr lang="en-US" sz="1200" dirty="0">
                <a:solidFill>
                  <a:srgbClr val="CADCFC"/>
                </a:solidFill>
                <a:latin typeface="Calibri" pitchFamily="34" charset="0"/>
                <a:ea typeface="Calibri" pitchFamily="34" charset="-122"/>
                <a:cs typeface="Calibri" pitchFamily="34" charset="-120"/>
              </a:rPr>
              <a:t>We collect those fingerprints, ask the BitTorrent network how many people are sharing each one, and locate those people by country — every day.</a:t>
            </a:r>
            <a:endParaRPr lang="en-US" sz="1200" dirty="0"/>
          </a:p>
        </p:txBody>
      </p:sp>
      <p:sp>
        <p:nvSpPr>
          <p:cNvPr id="15" name="Shape 13"/>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16" name="Text 14"/>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17" name="Text 15"/>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18" name="Text 16"/>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02</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A QUICK PRIMER ON BITTORRENT</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How Piracy Works</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Text 5"/>
          <p:cNvSpPr/>
          <p:nvPr/>
        </p:nvSpPr>
        <p:spPr>
          <a:xfrm>
            <a:off x="457200" y="1691640"/>
            <a:ext cx="11274552" cy="1005840"/>
          </a:xfrm>
          <a:prstGeom prst="rect">
            <a:avLst/>
          </a:prstGeom>
          <a:noFill/>
          <a:ln/>
        </p:spPr>
        <p:txBody>
          <a:bodyPr wrap="square" rtlCol="0" anchor="ctr"/>
          <a:lstStyle/>
          <a:p>
            <a:pPr marL="0" indent="0">
              <a:lnSpc>
                <a:spcPct val="140000"/>
              </a:lnSpc>
              <a:buNone/>
            </a:pPr>
            <a:r>
              <a:rPr lang="en-US" sz="1300" dirty="0">
                <a:solidFill>
                  <a:srgbClr val="1A1A1A"/>
                </a:solidFill>
                <a:latin typeface="Calibri" pitchFamily="34" charset="0"/>
                <a:ea typeface="Calibri" pitchFamily="34" charset="-122"/>
                <a:cs typeface="Calibri" pitchFamily="34" charset="-120"/>
              </a:rPr>
              <a:t>BitTorrent is a peer-to-peer file-sharing protocol. There is no central server — thousands of people simultaneously upload and download pieces of the same file directly between themselves. Every shared file carries a unique 40-character identifier called an info hash.</a:t>
            </a:r>
            <a:endParaRPr lang="en-US" sz="1300" dirty="0"/>
          </a:p>
        </p:txBody>
      </p:sp>
      <p:sp>
        <p:nvSpPr>
          <p:cNvPr id="8" name="Shape 6"/>
          <p:cNvSpPr/>
          <p:nvPr/>
        </p:nvSpPr>
        <p:spPr>
          <a:xfrm>
            <a:off x="457200" y="2880360"/>
            <a:ext cx="11274552" cy="365760"/>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640080" y="2880360"/>
            <a:ext cx="292608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BITTORRENT TERM</a:t>
            </a:r>
            <a:endParaRPr lang="en-US" sz="1000" dirty="0"/>
          </a:p>
        </p:txBody>
      </p:sp>
      <p:sp>
        <p:nvSpPr>
          <p:cNvPr id="10" name="Text 8"/>
          <p:cNvSpPr/>
          <p:nvPr/>
        </p:nvSpPr>
        <p:spPr>
          <a:xfrm>
            <a:off x="3566160" y="2880360"/>
            <a:ext cx="777240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PLAIN ENGLISH MEANING</a:t>
            </a:r>
            <a:endParaRPr lang="en-US" sz="1000" dirty="0"/>
          </a:p>
        </p:txBody>
      </p:sp>
      <p:sp>
        <p:nvSpPr>
          <p:cNvPr id="11" name="Shape 9"/>
          <p:cNvSpPr/>
          <p:nvPr/>
        </p:nvSpPr>
        <p:spPr>
          <a:xfrm>
            <a:off x="457200" y="3246120"/>
            <a:ext cx="11274552" cy="502920"/>
          </a:xfrm>
          <a:prstGeom prst="rect">
            <a:avLst/>
          </a:prstGeom>
          <a:solidFill>
            <a:srgbClr val="FBF8F2"/>
          </a:solidFill>
          <a:ln w="12700">
            <a:solidFill>
              <a:srgbClr val="FBF8F2"/>
            </a:solidFill>
            <a:prstDash val="solid"/>
          </a:ln>
        </p:spPr>
        <p:txBody>
          <a:bodyPr/>
          <a:lstStyle/>
          <a:p>
            <a:endParaRPr lang="en-US"/>
          </a:p>
        </p:txBody>
      </p:sp>
      <p:sp>
        <p:nvSpPr>
          <p:cNvPr id="12" name="Text 10"/>
          <p:cNvSpPr/>
          <p:nvPr/>
        </p:nvSpPr>
        <p:spPr>
          <a:xfrm>
            <a:off x="640080" y="3246120"/>
            <a:ext cx="2926080" cy="502920"/>
          </a:xfrm>
          <a:prstGeom prst="rect">
            <a:avLst/>
          </a:prstGeom>
          <a:noFill/>
          <a:ln/>
        </p:spPr>
        <p:txBody>
          <a:bodyPr wrap="square" rtlCol="0" anchor="ctr"/>
          <a:lstStyle/>
          <a:p>
            <a:pPr marL="0" indent="0">
              <a:buNone/>
            </a:pPr>
            <a:r>
              <a:rPr lang="en-US" sz="1300" b="1" dirty="0">
                <a:solidFill>
                  <a:srgbClr val="9A5825"/>
                </a:solidFill>
                <a:latin typeface="Georgia" pitchFamily="34" charset="0"/>
                <a:ea typeface="Georgia" pitchFamily="34" charset="-122"/>
                <a:cs typeface="Georgia" pitchFamily="34" charset="-120"/>
              </a:rPr>
              <a:t>Info Hash</a:t>
            </a:r>
            <a:endParaRPr lang="en-US" sz="1300" dirty="0"/>
          </a:p>
        </p:txBody>
      </p:sp>
      <p:sp>
        <p:nvSpPr>
          <p:cNvPr id="13" name="Text 11"/>
          <p:cNvSpPr/>
          <p:nvPr/>
        </p:nvSpPr>
        <p:spPr>
          <a:xfrm>
            <a:off x="3566160" y="3246120"/>
            <a:ext cx="7772400" cy="502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The unique fingerprint of a pirated file</a:t>
            </a:r>
            <a:endParaRPr lang="en-US" sz="1300" dirty="0"/>
          </a:p>
        </p:txBody>
      </p:sp>
      <p:sp>
        <p:nvSpPr>
          <p:cNvPr id="14" name="Text 12"/>
          <p:cNvSpPr/>
          <p:nvPr/>
        </p:nvSpPr>
        <p:spPr>
          <a:xfrm>
            <a:off x="640080" y="3749040"/>
            <a:ext cx="2926080" cy="502920"/>
          </a:xfrm>
          <a:prstGeom prst="rect">
            <a:avLst/>
          </a:prstGeom>
          <a:noFill/>
          <a:ln/>
        </p:spPr>
        <p:txBody>
          <a:bodyPr wrap="square" rtlCol="0" anchor="ctr"/>
          <a:lstStyle/>
          <a:p>
            <a:pPr marL="0" indent="0">
              <a:buNone/>
            </a:pPr>
            <a:r>
              <a:rPr lang="en-US" sz="1300" b="1" dirty="0">
                <a:solidFill>
                  <a:srgbClr val="9A5825"/>
                </a:solidFill>
                <a:latin typeface="Georgia" pitchFamily="34" charset="0"/>
                <a:ea typeface="Georgia" pitchFamily="34" charset="-122"/>
                <a:cs typeface="Georgia" pitchFamily="34" charset="-120"/>
              </a:rPr>
              <a:t>Peer / Seeder</a:t>
            </a:r>
            <a:endParaRPr lang="en-US" sz="1300" dirty="0"/>
          </a:p>
        </p:txBody>
      </p:sp>
      <p:sp>
        <p:nvSpPr>
          <p:cNvPr id="15" name="Text 13"/>
          <p:cNvSpPr/>
          <p:nvPr/>
        </p:nvSpPr>
        <p:spPr>
          <a:xfrm>
            <a:off x="3566160" y="3749040"/>
            <a:ext cx="7772400" cy="502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 person actively sharing (uploading) the file</a:t>
            </a:r>
            <a:endParaRPr lang="en-US" sz="1300" dirty="0"/>
          </a:p>
        </p:txBody>
      </p:sp>
      <p:sp>
        <p:nvSpPr>
          <p:cNvPr id="16" name="Shape 14"/>
          <p:cNvSpPr/>
          <p:nvPr/>
        </p:nvSpPr>
        <p:spPr>
          <a:xfrm>
            <a:off x="457200" y="4251960"/>
            <a:ext cx="11274552" cy="502920"/>
          </a:xfrm>
          <a:prstGeom prst="rect">
            <a:avLst/>
          </a:prstGeom>
          <a:solidFill>
            <a:srgbClr val="FBF8F2"/>
          </a:solidFill>
          <a:ln w="12700">
            <a:solidFill>
              <a:srgbClr val="FBF8F2"/>
            </a:solidFill>
            <a:prstDash val="solid"/>
          </a:ln>
        </p:spPr>
        <p:txBody>
          <a:bodyPr/>
          <a:lstStyle/>
          <a:p>
            <a:endParaRPr lang="en-US"/>
          </a:p>
        </p:txBody>
      </p:sp>
      <p:sp>
        <p:nvSpPr>
          <p:cNvPr id="17" name="Text 15"/>
          <p:cNvSpPr/>
          <p:nvPr/>
        </p:nvSpPr>
        <p:spPr>
          <a:xfrm>
            <a:off x="640080" y="4251960"/>
            <a:ext cx="2926080" cy="502920"/>
          </a:xfrm>
          <a:prstGeom prst="rect">
            <a:avLst/>
          </a:prstGeom>
          <a:noFill/>
          <a:ln/>
        </p:spPr>
        <p:txBody>
          <a:bodyPr wrap="square" rtlCol="0" anchor="ctr"/>
          <a:lstStyle/>
          <a:p>
            <a:pPr marL="0" indent="0">
              <a:buNone/>
            </a:pPr>
            <a:r>
              <a:rPr lang="en-US" sz="1300" b="1" dirty="0">
                <a:solidFill>
                  <a:srgbClr val="9A5825"/>
                </a:solidFill>
                <a:latin typeface="Georgia" pitchFamily="34" charset="0"/>
                <a:ea typeface="Georgia" pitchFamily="34" charset="-122"/>
                <a:cs typeface="Georgia" pitchFamily="34" charset="-120"/>
              </a:rPr>
              <a:t>Leecher</a:t>
            </a:r>
            <a:endParaRPr lang="en-US" sz="1300" dirty="0"/>
          </a:p>
        </p:txBody>
      </p:sp>
      <p:sp>
        <p:nvSpPr>
          <p:cNvPr id="18" name="Text 16"/>
          <p:cNvSpPr/>
          <p:nvPr/>
        </p:nvSpPr>
        <p:spPr>
          <a:xfrm>
            <a:off x="3566160" y="4251960"/>
            <a:ext cx="7772400" cy="502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 person downloading the file</a:t>
            </a:r>
            <a:endParaRPr lang="en-US" sz="1300" dirty="0"/>
          </a:p>
        </p:txBody>
      </p:sp>
      <p:sp>
        <p:nvSpPr>
          <p:cNvPr id="19" name="Text 17"/>
          <p:cNvSpPr/>
          <p:nvPr/>
        </p:nvSpPr>
        <p:spPr>
          <a:xfrm>
            <a:off x="640080" y="4754880"/>
            <a:ext cx="2926080" cy="502920"/>
          </a:xfrm>
          <a:prstGeom prst="rect">
            <a:avLst/>
          </a:prstGeom>
          <a:noFill/>
          <a:ln/>
        </p:spPr>
        <p:txBody>
          <a:bodyPr wrap="square" rtlCol="0" anchor="ctr"/>
          <a:lstStyle/>
          <a:p>
            <a:pPr marL="0" indent="0">
              <a:buNone/>
            </a:pPr>
            <a:r>
              <a:rPr lang="en-US" sz="1300" b="1" dirty="0">
                <a:solidFill>
                  <a:srgbClr val="9A5825"/>
                </a:solidFill>
                <a:latin typeface="Georgia" pitchFamily="34" charset="0"/>
                <a:ea typeface="Georgia" pitchFamily="34" charset="-122"/>
                <a:cs typeface="Georgia" pitchFamily="34" charset="-120"/>
              </a:rPr>
              <a:t>DHT Network</a:t>
            </a:r>
            <a:endParaRPr lang="en-US" sz="1300" dirty="0"/>
          </a:p>
        </p:txBody>
      </p:sp>
      <p:sp>
        <p:nvSpPr>
          <p:cNvPr id="20" name="Text 18"/>
          <p:cNvSpPr/>
          <p:nvPr/>
        </p:nvSpPr>
        <p:spPr>
          <a:xfrm>
            <a:off x="3566160" y="4754880"/>
            <a:ext cx="7772400" cy="502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The decentralised directory where peers find each other</a:t>
            </a:r>
            <a:endParaRPr lang="en-US" sz="1300" dirty="0"/>
          </a:p>
        </p:txBody>
      </p:sp>
      <p:sp>
        <p:nvSpPr>
          <p:cNvPr id="21" name="Shape 19"/>
          <p:cNvSpPr/>
          <p:nvPr/>
        </p:nvSpPr>
        <p:spPr>
          <a:xfrm>
            <a:off x="457200" y="5257800"/>
            <a:ext cx="11274552" cy="502920"/>
          </a:xfrm>
          <a:prstGeom prst="rect">
            <a:avLst/>
          </a:prstGeom>
          <a:solidFill>
            <a:srgbClr val="FBF8F2"/>
          </a:solidFill>
          <a:ln w="12700">
            <a:solidFill>
              <a:srgbClr val="FBF8F2"/>
            </a:solidFill>
            <a:prstDash val="solid"/>
          </a:ln>
        </p:spPr>
        <p:txBody>
          <a:bodyPr/>
          <a:lstStyle/>
          <a:p>
            <a:endParaRPr lang="en-US"/>
          </a:p>
        </p:txBody>
      </p:sp>
      <p:sp>
        <p:nvSpPr>
          <p:cNvPr id="22" name="Text 20"/>
          <p:cNvSpPr/>
          <p:nvPr/>
        </p:nvSpPr>
        <p:spPr>
          <a:xfrm>
            <a:off x="640080" y="5257800"/>
            <a:ext cx="2926080" cy="502920"/>
          </a:xfrm>
          <a:prstGeom prst="rect">
            <a:avLst/>
          </a:prstGeom>
          <a:noFill/>
          <a:ln/>
        </p:spPr>
        <p:txBody>
          <a:bodyPr wrap="square" rtlCol="0" anchor="ctr"/>
          <a:lstStyle/>
          <a:p>
            <a:pPr marL="0" indent="0">
              <a:buNone/>
            </a:pPr>
            <a:r>
              <a:rPr lang="en-US" sz="1300" b="1" dirty="0">
                <a:solidFill>
                  <a:srgbClr val="9A5825"/>
                </a:solidFill>
                <a:latin typeface="Georgia" pitchFamily="34" charset="0"/>
                <a:ea typeface="Georgia" pitchFamily="34" charset="-122"/>
                <a:cs typeface="Georgia" pitchFamily="34" charset="-120"/>
              </a:rPr>
              <a:t>Peer Count</a:t>
            </a:r>
            <a:endParaRPr lang="en-US" sz="1300" dirty="0"/>
          </a:p>
        </p:txBody>
      </p:sp>
      <p:sp>
        <p:nvSpPr>
          <p:cNvPr id="23" name="Text 21"/>
          <p:cNvSpPr/>
          <p:nvPr/>
        </p:nvSpPr>
        <p:spPr>
          <a:xfrm>
            <a:off x="3566160" y="5257800"/>
            <a:ext cx="7772400" cy="502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How many people are sharing a specific title right now</a:t>
            </a:r>
            <a:endParaRPr lang="en-US" sz="1300" dirty="0"/>
          </a:p>
        </p:txBody>
      </p:sp>
      <p:sp>
        <p:nvSpPr>
          <p:cNvPr id="24" name="Shape 22"/>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25" name="Text 23"/>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26" name="Text 24"/>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27" name="Text 25"/>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03</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FIVE-STEP AUTOMATED PIPELINE</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How We Collect the Data</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Shape 5"/>
          <p:cNvSpPr/>
          <p:nvPr/>
        </p:nvSpPr>
        <p:spPr>
          <a:xfrm>
            <a:off x="457200" y="1645920"/>
            <a:ext cx="11274552" cy="804672"/>
          </a:xfrm>
          <a:prstGeom prst="rect">
            <a:avLst/>
          </a:prstGeom>
          <a:solidFill>
            <a:srgbClr val="FBF8F2"/>
          </a:solidFill>
          <a:ln w="6350">
            <a:solidFill>
              <a:srgbClr val="E6E0D2"/>
            </a:solidFill>
            <a:prstDash val="solid"/>
          </a:ln>
        </p:spPr>
        <p:txBody>
          <a:bodyPr/>
          <a:lstStyle/>
          <a:p>
            <a:endParaRPr lang="en-US"/>
          </a:p>
        </p:txBody>
      </p:sp>
      <p:sp>
        <p:nvSpPr>
          <p:cNvPr id="8" name="Shape 6"/>
          <p:cNvSpPr/>
          <p:nvPr/>
        </p:nvSpPr>
        <p:spPr>
          <a:xfrm>
            <a:off x="640080" y="1783080"/>
            <a:ext cx="594360" cy="594360"/>
          </a:xfrm>
          <a:prstGeom prst="ellipse">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640080" y="1783080"/>
            <a:ext cx="594360" cy="594360"/>
          </a:xfrm>
          <a:prstGeom prst="rect">
            <a:avLst/>
          </a:prstGeom>
          <a:noFill/>
          <a:ln/>
        </p:spPr>
        <p:txBody>
          <a:bodyPr wrap="square" rtlCol="0" anchor="ctr"/>
          <a:lstStyle/>
          <a:p>
            <a:pPr marL="0" indent="0" algn="ctr">
              <a:buNone/>
            </a:pPr>
            <a:r>
              <a:rPr lang="en-US" sz="2200" b="1" dirty="0">
                <a:solidFill>
                  <a:srgbClr val="C8763C"/>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1417320" y="1737360"/>
            <a:ext cx="4114800" cy="365760"/>
          </a:xfrm>
          <a:prstGeom prst="rect">
            <a:avLst/>
          </a:prstGeom>
          <a:noFill/>
          <a:ln/>
        </p:spPr>
        <p:txBody>
          <a:bodyPr wrap="square"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Find Trending Pirated Content</a:t>
            </a:r>
            <a:endParaRPr lang="en-US" sz="1500" dirty="0"/>
          </a:p>
        </p:txBody>
      </p:sp>
      <p:sp>
        <p:nvSpPr>
          <p:cNvPr id="11" name="Text 9"/>
          <p:cNvSpPr/>
          <p:nvPr/>
        </p:nvSpPr>
        <p:spPr>
          <a:xfrm>
            <a:off x="1417320" y="2057400"/>
            <a:ext cx="10241280" cy="411480"/>
          </a:xfrm>
          <a:prstGeom prst="rect">
            <a:avLst/>
          </a:prstGeom>
          <a:noFill/>
          <a:ln/>
        </p:spPr>
        <p:txBody>
          <a:bodyPr wrap="square" rtlCol="0" anchor="t"/>
          <a:lstStyle/>
          <a:p>
            <a:pPr marL="0" indent="0">
              <a:lnSpc>
                <a:spcPct val="125000"/>
              </a:lnSpc>
              <a:buNone/>
            </a:pPr>
            <a:r>
              <a:rPr lang="en-US" sz="1200" dirty="0">
                <a:solidFill>
                  <a:srgbClr val="5A5A5A"/>
                </a:solidFill>
                <a:latin typeface="Calibri" pitchFamily="34" charset="0"/>
                <a:ea typeface="Calibri" pitchFamily="34" charset="-122"/>
                <a:cs typeface="Calibri" pitchFamily="34" charset="-120"/>
              </a:rPr>
              <a:t>Scrape major piracy sites several times daily. Each title has a unique hash — saved to our database.</a:t>
            </a:r>
            <a:endParaRPr lang="en-US" sz="1200" dirty="0"/>
          </a:p>
        </p:txBody>
      </p:sp>
      <p:sp>
        <p:nvSpPr>
          <p:cNvPr id="12" name="Shape 10"/>
          <p:cNvSpPr/>
          <p:nvPr/>
        </p:nvSpPr>
        <p:spPr>
          <a:xfrm>
            <a:off x="457200" y="2542032"/>
            <a:ext cx="11274552" cy="804672"/>
          </a:xfrm>
          <a:prstGeom prst="rect">
            <a:avLst/>
          </a:prstGeom>
          <a:solidFill>
            <a:srgbClr val="FBF8F2"/>
          </a:solidFill>
          <a:ln w="6350">
            <a:solidFill>
              <a:srgbClr val="E6E0D2"/>
            </a:solidFill>
            <a:prstDash val="solid"/>
          </a:ln>
        </p:spPr>
        <p:txBody>
          <a:bodyPr/>
          <a:lstStyle/>
          <a:p>
            <a:endParaRPr lang="en-US"/>
          </a:p>
        </p:txBody>
      </p:sp>
      <p:sp>
        <p:nvSpPr>
          <p:cNvPr id="13" name="Shape 11"/>
          <p:cNvSpPr/>
          <p:nvPr/>
        </p:nvSpPr>
        <p:spPr>
          <a:xfrm>
            <a:off x="640080" y="2679192"/>
            <a:ext cx="594360" cy="594360"/>
          </a:xfrm>
          <a:prstGeom prst="ellipse">
            <a:avLst/>
          </a:prstGeom>
          <a:solidFill>
            <a:srgbClr val="0B1F3A"/>
          </a:solidFill>
          <a:ln w="12700">
            <a:solidFill>
              <a:srgbClr val="0B1F3A"/>
            </a:solidFill>
            <a:prstDash val="solid"/>
          </a:ln>
        </p:spPr>
        <p:txBody>
          <a:bodyPr/>
          <a:lstStyle/>
          <a:p>
            <a:endParaRPr lang="en-US"/>
          </a:p>
        </p:txBody>
      </p:sp>
      <p:sp>
        <p:nvSpPr>
          <p:cNvPr id="14" name="Text 12"/>
          <p:cNvSpPr/>
          <p:nvPr/>
        </p:nvSpPr>
        <p:spPr>
          <a:xfrm>
            <a:off x="640080" y="2679192"/>
            <a:ext cx="594360" cy="594360"/>
          </a:xfrm>
          <a:prstGeom prst="rect">
            <a:avLst/>
          </a:prstGeom>
          <a:noFill/>
          <a:ln/>
        </p:spPr>
        <p:txBody>
          <a:bodyPr wrap="square" rtlCol="0" anchor="ctr"/>
          <a:lstStyle/>
          <a:p>
            <a:pPr marL="0" indent="0" algn="ctr">
              <a:buNone/>
            </a:pPr>
            <a:r>
              <a:rPr lang="en-US" sz="2200" b="1" dirty="0">
                <a:solidFill>
                  <a:srgbClr val="C8763C"/>
                </a:solidFill>
                <a:latin typeface="Georgia" pitchFamily="34" charset="0"/>
                <a:ea typeface="Georgia" pitchFamily="34" charset="-122"/>
                <a:cs typeface="Georgia" pitchFamily="34" charset="-120"/>
              </a:rPr>
              <a:t>2</a:t>
            </a:r>
            <a:endParaRPr lang="en-US" sz="2200" dirty="0"/>
          </a:p>
        </p:txBody>
      </p:sp>
      <p:sp>
        <p:nvSpPr>
          <p:cNvPr id="15" name="Text 13"/>
          <p:cNvSpPr/>
          <p:nvPr/>
        </p:nvSpPr>
        <p:spPr>
          <a:xfrm>
            <a:off x="1417320" y="2633472"/>
            <a:ext cx="4114800" cy="365760"/>
          </a:xfrm>
          <a:prstGeom prst="rect">
            <a:avLst/>
          </a:prstGeom>
          <a:noFill/>
          <a:ln/>
        </p:spPr>
        <p:txBody>
          <a:bodyPr wrap="square"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Count the Sharers — Two Layers</a:t>
            </a:r>
            <a:endParaRPr lang="en-US" sz="1500" dirty="0"/>
          </a:p>
        </p:txBody>
      </p:sp>
      <p:sp>
        <p:nvSpPr>
          <p:cNvPr id="16" name="Text 14"/>
          <p:cNvSpPr/>
          <p:nvPr/>
        </p:nvSpPr>
        <p:spPr>
          <a:xfrm>
            <a:off x="1417320" y="2953512"/>
            <a:ext cx="10241280" cy="411480"/>
          </a:xfrm>
          <a:prstGeom prst="rect">
            <a:avLst/>
          </a:prstGeom>
          <a:noFill/>
          <a:ln/>
        </p:spPr>
        <p:txBody>
          <a:bodyPr wrap="square" rtlCol="0" anchor="t"/>
          <a:lstStyle/>
          <a:p>
            <a:pPr marL="0" indent="0">
              <a:lnSpc>
                <a:spcPct val="125000"/>
              </a:lnSpc>
              <a:buNone/>
            </a:pPr>
            <a:r>
              <a:rPr lang="en-US" sz="1200" dirty="0">
                <a:solidFill>
                  <a:srgbClr val="5A5A5A"/>
                </a:solidFill>
                <a:latin typeface="Calibri" pitchFamily="34" charset="0"/>
                <a:ea typeface="Calibri" pitchFamily="34" charset="-122"/>
                <a:cs typeface="Calibri" pitchFamily="34" charset="-120"/>
              </a:rPr>
              <a:t>A quick DHT sample (undercounts) PLUS a tracker-announce harvester that re-asks each swarm who is online all day — the harvester is what reaches real-world scale.</a:t>
            </a:r>
            <a:endParaRPr lang="en-US" sz="1200" dirty="0"/>
          </a:p>
        </p:txBody>
      </p:sp>
      <p:sp>
        <p:nvSpPr>
          <p:cNvPr id="17" name="Shape 15"/>
          <p:cNvSpPr/>
          <p:nvPr/>
        </p:nvSpPr>
        <p:spPr>
          <a:xfrm>
            <a:off x="457200" y="3438144"/>
            <a:ext cx="11274552" cy="804672"/>
          </a:xfrm>
          <a:prstGeom prst="rect">
            <a:avLst/>
          </a:prstGeom>
          <a:solidFill>
            <a:srgbClr val="FBF8F2"/>
          </a:solidFill>
          <a:ln w="6350">
            <a:solidFill>
              <a:srgbClr val="E6E0D2"/>
            </a:solidFill>
            <a:prstDash val="solid"/>
          </a:ln>
        </p:spPr>
        <p:txBody>
          <a:bodyPr/>
          <a:lstStyle/>
          <a:p>
            <a:endParaRPr lang="en-US"/>
          </a:p>
        </p:txBody>
      </p:sp>
      <p:sp>
        <p:nvSpPr>
          <p:cNvPr id="18" name="Shape 16"/>
          <p:cNvSpPr/>
          <p:nvPr/>
        </p:nvSpPr>
        <p:spPr>
          <a:xfrm>
            <a:off x="640080" y="3575304"/>
            <a:ext cx="594360" cy="594360"/>
          </a:xfrm>
          <a:prstGeom prst="ellipse">
            <a:avLst/>
          </a:prstGeom>
          <a:solidFill>
            <a:srgbClr val="0B1F3A"/>
          </a:solidFill>
          <a:ln w="12700">
            <a:solidFill>
              <a:srgbClr val="0B1F3A"/>
            </a:solidFill>
            <a:prstDash val="solid"/>
          </a:ln>
        </p:spPr>
        <p:txBody>
          <a:bodyPr/>
          <a:lstStyle/>
          <a:p>
            <a:endParaRPr lang="en-US"/>
          </a:p>
        </p:txBody>
      </p:sp>
      <p:sp>
        <p:nvSpPr>
          <p:cNvPr id="19" name="Text 17"/>
          <p:cNvSpPr/>
          <p:nvPr/>
        </p:nvSpPr>
        <p:spPr>
          <a:xfrm>
            <a:off x="640080" y="3575304"/>
            <a:ext cx="594360" cy="594360"/>
          </a:xfrm>
          <a:prstGeom prst="rect">
            <a:avLst/>
          </a:prstGeom>
          <a:noFill/>
          <a:ln/>
        </p:spPr>
        <p:txBody>
          <a:bodyPr wrap="square" rtlCol="0" anchor="ctr"/>
          <a:lstStyle/>
          <a:p>
            <a:pPr marL="0" indent="0" algn="ctr">
              <a:buNone/>
            </a:pPr>
            <a:r>
              <a:rPr lang="en-US" sz="2200" b="1" dirty="0">
                <a:solidFill>
                  <a:srgbClr val="C8763C"/>
                </a:solidFill>
                <a:latin typeface="Georgia" pitchFamily="34" charset="0"/>
                <a:ea typeface="Georgia" pitchFamily="34" charset="-122"/>
                <a:cs typeface="Georgia" pitchFamily="34" charset="-120"/>
              </a:rPr>
              <a:t>3</a:t>
            </a:r>
            <a:endParaRPr lang="en-US" sz="2200" dirty="0"/>
          </a:p>
        </p:txBody>
      </p:sp>
      <p:sp>
        <p:nvSpPr>
          <p:cNvPr id="20" name="Text 18"/>
          <p:cNvSpPr/>
          <p:nvPr/>
        </p:nvSpPr>
        <p:spPr>
          <a:xfrm>
            <a:off x="1417320" y="3529584"/>
            <a:ext cx="4114800" cy="365760"/>
          </a:xfrm>
          <a:prstGeom prst="rect">
            <a:avLst/>
          </a:prstGeom>
          <a:noFill/>
          <a:ln/>
        </p:spPr>
        <p:txBody>
          <a:bodyPr wrap="square"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Locate by Country (GeoIP)</a:t>
            </a:r>
            <a:endParaRPr lang="en-US" sz="1500" dirty="0"/>
          </a:p>
        </p:txBody>
      </p:sp>
      <p:sp>
        <p:nvSpPr>
          <p:cNvPr id="21" name="Text 19"/>
          <p:cNvSpPr/>
          <p:nvPr/>
        </p:nvSpPr>
        <p:spPr>
          <a:xfrm>
            <a:off x="1417320" y="3849624"/>
            <a:ext cx="10241280" cy="411480"/>
          </a:xfrm>
          <a:prstGeom prst="rect">
            <a:avLst/>
          </a:prstGeom>
          <a:noFill/>
          <a:ln/>
        </p:spPr>
        <p:txBody>
          <a:bodyPr wrap="square" rtlCol="0" anchor="t"/>
          <a:lstStyle/>
          <a:p>
            <a:pPr marL="0" indent="0">
              <a:lnSpc>
                <a:spcPct val="125000"/>
              </a:lnSpc>
              <a:buNone/>
            </a:pPr>
            <a:r>
              <a:rPr lang="en-US" sz="1200" dirty="0">
                <a:solidFill>
                  <a:srgbClr val="5A5A5A"/>
                </a:solidFill>
                <a:latin typeface="Calibri" pitchFamily="34" charset="0"/>
                <a:ea typeface="Calibri" pitchFamily="34" charset="-122"/>
                <a:cs typeface="Calibri" pitchFamily="34" charset="-120"/>
              </a:rPr>
              <a:t>Resolve each sharer's IP address to a country using a maintained lookup database.</a:t>
            </a:r>
            <a:endParaRPr lang="en-US" sz="1200" dirty="0"/>
          </a:p>
        </p:txBody>
      </p:sp>
      <p:sp>
        <p:nvSpPr>
          <p:cNvPr id="22" name="Shape 20"/>
          <p:cNvSpPr/>
          <p:nvPr/>
        </p:nvSpPr>
        <p:spPr>
          <a:xfrm>
            <a:off x="457200" y="4334256"/>
            <a:ext cx="11274552" cy="804672"/>
          </a:xfrm>
          <a:prstGeom prst="rect">
            <a:avLst/>
          </a:prstGeom>
          <a:solidFill>
            <a:srgbClr val="FBF8F2"/>
          </a:solidFill>
          <a:ln w="6350">
            <a:solidFill>
              <a:srgbClr val="E6E0D2"/>
            </a:solidFill>
            <a:prstDash val="solid"/>
          </a:ln>
        </p:spPr>
        <p:txBody>
          <a:bodyPr/>
          <a:lstStyle/>
          <a:p>
            <a:endParaRPr lang="en-US"/>
          </a:p>
        </p:txBody>
      </p:sp>
      <p:sp>
        <p:nvSpPr>
          <p:cNvPr id="23" name="Shape 21"/>
          <p:cNvSpPr/>
          <p:nvPr/>
        </p:nvSpPr>
        <p:spPr>
          <a:xfrm>
            <a:off x="640080" y="4471416"/>
            <a:ext cx="594360" cy="594360"/>
          </a:xfrm>
          <a:prstGeom prst="ellipse">
            <a:avLst/>
          </a:prstGeom>
          <a:solidFill>
            <a:srgbClr val="0B1F3A"/>
          </a:solidFill>
          <a:ln w="12700">
            <a:solidFill>
              <a:srgbClr val="0B1F3A"/>
            </a:solidFill>
            <a:prstDash val="solid"/>
          </a:ln>
        </p:spPr>
        <p:txBody>
          <a:bodyPr/>
          <a:lstStyle/>
          <a:p>
            <a:endParaRPr lang="en-US"/>
          </a:p>
        </p:txBody>
      </p:sp>
      <p:sp>
        <p:nvSpPr>
          <p:cNvPr id="24" name="Text 22"/>
          <p:cNvSpPr/>
          <p:nvPr/>
        </p:nvSpPr>
        <p:spPr>
          <a:xfrm>
            <a:off x="640080" y="4471416"/>
            <a:ext cx="594360" cy="594360"/>
          </a:xfrm>
          <a:prstGeom prst="rect">
            <a:avLst/>
          </a:prstGeom>
          <a:noFill/>
          <a:ln/>
        </p:spPr>
        <p:txBody>
          <a:bodyPr wrap="square" rtlCol="0" anchor="ctr"/>
          <a:lstStyle/>
          <a:p>
            <a:pPr marL="0" indent="0" algn="ctr">
              <a:buNone/>
            </a:pPr>
            <a:r>
              <a:rPr lang="en-US" sz="2200" b="1" dirty="0">
                <a:solidFill>
                  <a:srgbClr val="C8763C"/>
                </a:solidFill>
                <a:latin typeface="Georgia" pitchFamily="34" charset="0"/>
                <a:ea typeface="Georgia" pitchFamily="34" charset="-122"/>
                <a:cs typeface="Georgia" pitchFamily="34" charset="-120"/>
              </a:rPr>
              <a:t>4</a:t>
            </a:r>
            <a:endParaRPr lang="en-US" sz="2200" dirty="0"/>
          </a:p>
        </p:txBody>
      </p:sp>
      <p:sp>
        <p:nvSpPr>
          <p:cNvPr id="25" name="Text 23"/>
          <p:cNvSpPr/>
          <p:nvPr/>
        </p:nvSpPr>
        <p:spPr>
          <a:xfrm>
            <a:off x="1417320" y="4425696"/>
            <a:ext cx="4114800" cy="365760"/>
          </a:xfrm>
          <a:prstGeom prst="rect">
            <a:avLst/>
          </a:prstGeom>
          <a:noFill/>
          <a:ln/>
        </p:spPr>
        <p:txBody>
          <a:bodyPr wrap="square"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Discover New Content (DHT Crawling)</a:t>
            </a:r>
            <a:endParaRPr lang="en-US" sz="1500" dirty="0"/>
          </a:p>
        </p:txBody>
      </p:sp>
      <p:sp>
        <p:nvSpPr>
          <p:cNvPr id="26" name="Text 24"/>
          <p:cNvSpPr/>
          <p:nvPr/>
        </p:nvSpPr>
        <p:spPr>
          <a:xfrm>
            <a:off x="1417320" y="4745736"/>
            <a:ext cx="10241280" cy="411480"/>
          </a:xfrm>
          <a:prstGeom prst="rect">
            <a:avLst/>
          </a:prstGeom>
          <a:noFill/>
          <a:ln/>
        </p:spPr>
        <p:txBody>
          <a:bodyPr wrap="square" rtlCol="0" anchor="t"/>
          <a:lstStyle/>
          <a:p>
            <a:pPr marL="0" indent="0">
              <a:lnSpc>
                <a:spcPct val="125000"/>
              </a:lnSpc>
              <a:buNone/>
            </a:pPr>
            <a:r>
              <a:rPr lang="en-US" sz="1200" dirty="0">
                <a:solidFill>
                  <a:srgbClr val="5A5A5A"/>
                </a:solidFill>
                <a:latin typeface="Calibri" pitchFamily="34" charset="0"/>
                <a:ea typeface="Calibri" pitchFamily="34" charset="-122"/>
                <a:cs typeface="Calibri" pitchFamily="34" charset="-120"/>
              </a:rPr>
              <a:t>Crawl the DHT directly to find newly shared content before it appears on any piracy site.</a:t>
            </a:r>
            <a:endParaRPr lang="en-US" sz="1200" dirty="0"/>
          </a:p>
        </p:txBody>
      </p:sp>
      <p:sp>
        <p:nvSpPr>
          <p:cNvPr id="27" name="Shape 25"/>
          <p:cNvSpPr/>
          <p:nvPr/>
        </p:nvSpPr>
        <p:spPr>
          <a:xfrm>
            <a:off x="457200" y="5230368"/>
            <a:ext cx="11274552" cy="804672"/>
          </a:xfrm>
          <a:prstGeom prst="rect">
            <a:avLst/>
          </a:prstGeom>
          <a:solidFill>
            <a:srgbClr val="FBF8F2"/>
          </a:solidFill>
          <a:ln w="6350">
            <a:solidFill>
              <a:srgbClr val="E6E0D2"/>
            </a:solidFill>
            <a:prstDash val="solid"/>
          </a:ln>
        </p:spPr>
        <p:txBody>
          <a:bodyPr/>
          <a:lstStyle/>
          <a:p>
            <a:endParaRPr lang="en-US"/>
          </a:p>
        </p:txBody>
      </p:sp>
      <p:sp>
        <p:nvSpPr>
          <p:cNvPr id="28" name="Shape 26"/>
          <p:cNvSpPr/>
          <p:nvPr/>
        </p:nvSpPr>
        <p:spPr>
          <a:xfrm>
            <a:off x="640080" y="5367528"/>
            <a:ext cx="594360" cy="594360"/>
          </a:xfrm>
          <a:prstGeom prst="ellipse">
            <a:avLst/>
          </a:prstGeom>
          <a:solidFill>
            <a:srgbClr val="0B1F3A"/>
          </a:solidFill>
          <a:ln w="12700">
            <a:solidFill>
              <a:srgbClr val="0B1F3A"/>
            </a:solidFill>
            <a:prstDash val="solid"/>
          </a:ln>
        </p:spPr>
        <p:txBody>
          <a:bodyPr/>
          <a:lstStyle/>
          <a:p>
            <a:endParaRPr lang="en-US"/>
          </a:p>
        </p:txBody>
      </p:sp>
      <p:sp>
        <p:nvSpPr>
          <p:cNvPr id="29" name="Text 27"/>
          <p:cNvSpPr/>
          <p:nvPr/>
        </p:nvSpPr>
        <p:spPr>
          <a:xfrm>
            <a:off x="640080" y="5367528"/>
            <a:ext cx="594360" cy="594360"/>
          </a:xfrm>
          <a:prstGeom prst="rect">
            <a:avLst/>
          </a:prstGeom>
          <a:noFill/>
          <a:ln/>
        </p:spPr>
        <p:txBody>
          <a:bodyPr wrap="square" rtlCol="0" anchor="ctr"/>
          <a:lstStyle/>
          <a:p>
            <a:pPr marL="0" indent="0" algn="ctr">
              <a:buNone/>
            </a:pPr>
            <a:r>
              <a:rPr lang="en-US" sz="2200" b="1" dirty="0">
                <a:solidFill>
                  <a:srgbClr val="C8763C"/>
                </a:solidFill>
                <a:latin typeface="Georgia" pitchFamily="34" charset="0"/>
                <a:ea typeface="Georgia" pitchFamily="34" charset="-122"/>
                <a:cs typeface="Georgia" pitchFamily="34" charset="-120"/>
              </a:rPr>
              <a:t>5</a:t>
            </a:r>
            <a:endParaRPr lang="en-US" sz="2200" dirty="0"/>
          </a:p>
        </p:txBody>
      </p:sp>
      <p:sp>
        <p:nvSpPr>
          <p:cNvPr id="30" name="Text 28"/>
          <p:cNvSpPr/>
          <p:nvPr/>
        </p:nvSpPr>
        <p:spPr>
          <a:xfrm>
            <a:off x="1417320" y="5321808"/>
            <a:ext cx="4114800" cy="365760"/>
          </a:xfrm>
          <a:prstGeom prst="rect">
            <a:avLst/>
          </a:prstGeom>
          <a:noFill/>
          <a:ln/>
        </p:spPr>
        <p:txBody>
          <a:bodyPr wrap="square" rtlCol="0" anchor="ctr"/>
          <a:lstStyle/>
          <a:p>
            <a:pPr marL="0" indent="0">
              <a:buNone/>
            </a:pPr>
            <a:r>
              <a:rPr lang="en-US" sz="1500" b="1" dirty="0">
                <a:solidFill>
                  <a:srgbClr val="0B1F3A"/>
                </a:solidFill>
                <a:latin typeface="Georgia" pitchFamily="34" charset="0"/>
                <a:ea typeface="Georgia" pitchFamily="34" charset="-122"/>
                <a:cs typeface="Georgia" pitchFamily="34" charset="-120"/>
              </a:rPr>
              <a:t>Union &amp; Publish</a:t>
            </a:r>
            <a:endParaRPr lang="en-US" sz="1500" dirty="0"/>
          </a:p>
        </p:txBody>
      </p:sp>
      <p:sp>
        <p:nvSpPr>
          <p:cNvPr id="31" name="Text 29"/>
          <p:cNvSpPr/>
          <p:nvPr/>
        </p:nvSpPr>
        <p:spPr>
          <a:xfrm>
            <a:off x="1417320" y="5641848"/>
            <a:ext cx="10241280" cy="411480"/>
          </a:xfrm>
          <a:prstGeom prst="rect">
            <a:avLst/>
          </a:prstGeom>
          <a:noFill/>
          <a:ln/>
        </p:spPr>
        <p:txBody>
          <a:bodyPr wrap="square" rtlCol="0" anchor="t"/>
          <a:lstStyle/>
          <a:p>
            <a:pPr marL="0" indent="0">
              <a:lnSpc>
                <a:spcPct val="125000"/>
              </a:lnSpc>
              <a:buNone/>
            </a:pPr>
            <a:r>
              <a:rPr lang="en-US" sz="1200" dirty="0">
                <a:solidFill>
                  <a:srgbClr val="5A5A5A"/>
                </a:solidFill>
                <a:latin typeface="Calibri" pitchFamily="34" charset="0"/>
                <a:ea typeface="Calibri" pitchFamily="34" charset="-122"/>
                <a:cs typeface="Calibri" pitchFamily="34" charset="-120"/>
              </a:rPr>
              <a:t>Union the day’s distinct sharer IPs per title × country into our own per-country demand feed, upload to S3 (plus a legacy dashboard feed); query via AWS Athena.</a:t>
            </a:r>
            <a:endParaRPr lang="en-US" sz="1200" dirty="0"/>
          </a:p>
        </p:txBody>
      </p:sp>
      <p:sp>
        <p:nvSpPr>
          <p:cNvPr id="32" name="Shape 30"/>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33" name="Text 31"/>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34" name="Text 32"/>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35" name="Text 33"/>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05 / 14</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 cy="640080"/>
          </a:xfrm>
          <a:prstGeom prst="rect">
            <a:avLst/>
          </a:prstGeom>
          <a:noFill/>
        </p:spPr>
        <p:txBody>
          <a:bodyPr wrap="square" anchor="t" lIns="54864" rIns="54864" tIns="27432" bIns="27432">
            <a:spAutoFit/>
          </a:bodyPr>
          <a:lstStyle/>
          <a:p>
            <a:pPr algn="l">
              <a:spcAft>
                <a:spcPts val="200"/>
              </a:spcAft>
            </a:pPr>
            <a:r>
              <a:rPr sz="3600" b="0">
                <a:solidFill>
                  <a:srgbClr val="C8763C"/>
                </a:solidFill>
                <a:latin typeface="Georgia"/>
              </a:rPr>
              <a:t>03</a:t>
            </a:r>
          </a:p>
        </p:txBody>
      </p:sp>
      <p:sp>
        <p:nvSpPr>
          <p:cNvPr id="4" name="TextBox 3"/>
          <p:cNvSpPr txBox="1"/>
          <p:nvPr/>
        </p:nvSpPr>
        <p:spPr>
          <a:xfrm>
            <a:off x="1463040" y="457200"/>
            <a:ext cx="8229600" cy="274320"/>
          </a:xfrm>
          <a:prstGeom prst="rect">
            <a:avLst/>
          </a:prstGeom>
          <a:noFill/>
        </p:spPr>
        <p:txBody>
          <a:bodyPr wrap="square" anchor="t" lIns="54864" rIns="54864" tIns="27432" bIns="27432">
            <a:spAutoFit/>
          </a:bodyPr>
          <a:lstStyle/>
          <a:p>
            <a:pPr algn="l">
              <a:spcAft>
                <a:spcPts val="200"/>
              </a:spcAft>
            </a:pPr>
            <a:r>
              <a:rPr sz="900" b="1">
                <a:solidFill>
                  <a:srgbClr val="5A5A5A"/>
                </a:solidFill>
                <a:latin typeface="Calibri"/>
              </a:rPr>
              <a:t>THE PIPELINE — VISUAL FLOW</a:t>
            </a:r>
          </a:p>
        </p:txBody>
      </p:sp>
      <p:sp>
        <p:nvSpPr>
          <p:cNvPr id="5" name="TextBox 4"/>
          <p:cNvSpPr txBox="1"/>
          <p:nvPr/>
        </p:nvSpPr>
        <p:spPr>
          <a:xfrm>
            <a:off x="1463040" y="713232"/>
            <a:ext cx="10058400" cy="548640"/>
          </a:xfrm>
          <a:prstGeom prst="rect">
            <a:avLst/>
          </a:prstGeom>
          <a:noFill/>
        </p:spPr>
        <p:txBody>
          <a:bodyPr wrap="square" anchor="t" lIns="54864" rIns="54864" tIns="27432" bIns="27432">
            <a:spAutoFit/>
          </a:bodyPr>
          <a:lstStyle/>
          <a:p>
            <a:pPr algn="l">
              <a:spcAft>
                <a:spcPts val="200"/>
              </a:spcAft>
            </a:pPr>
            <a:r>
              <a:rPr sz="2600" b="1">
                <a:solidFill>
                  <a:srgbClr val="0B1F3A"/>
                </a:solidFill>
                <a:latin typeface="Georgia"/>
              </a:rPr>
              <a:t>End-to-End Flow</a:t>
            </a:r>
          </a:p>
        </p:txBody>
      </p:sp>
      <p:sp>
        <p:nvSpPr>
          <p:cNvPr id="6" name="Rectangle 5"/>
          <p:cNvSpPr/>
          <p:nvPr/>
        </p:nvSpPr>
        <p:spPr>
          <a:xfrm>
            <a:off x="457200" y="1463040"/>
            <a:ext cx="11274552" cy="10972"/>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91056"/>
            <a:ext cx="11274552" cy="365760"/>
          </a:xfrm>
          <a:prstGeom prst="rect">
            <a:avLst/>
          </a:prstGeom>
          <a:noFill/>
        </p:spPr>
        <p:txBody>
          <a:bodyPr wrap="square" anchor="t" lIns="54864" rIns="54864" tIns="27432" bIns="27432">
            <a:spAutoFit/>
          </a:bodyPr>
          <a:lstStyle/>
          <a:p>
            <a:pPr algn="l">
              <a:spcAft>
                <a:spcPts val="200"/>
              </a:spcAft>
            </a:pPr>
            <a:r>
              <a:rPr sz="1200" b="0">
                <a:solidFill>
                  <a:srgbClr val="5A5A5A"/>
                </a:solidFill>
                <a:latin typeface="Calibri"/>
              </a:rPr>
              <a:t>From discovery to our own per-country demand feed. Peers are measured two ways; the day’s distinct IPs are unioned, then published two ways.</a:t>
            </a:r>
          </a:p>
        </p:txBody>
      </p:sp>
      <p:sp>
        <p:nvSpPr>
          <p:cNvPr id="8" name="TextBox 7"/>
          <p:cNvSpPr txBox="1"/>
          <p:nvPr/>
        </p:nvSpPr>
        <p:spPr>
          <a:xfrm>
            <a:off x="457200" y="2084831"/>
            <a:ext cx="2194560" cy="228600"/>
          </a:xfrm>
          <a:prstGeom prst="rect">
            <a:avLst/>
          </a:prstGeom>
          <a:noFill/>
        </p:spPr>
        <p:txBody>
          <a:bodyPr wrap="square" anchor="t" lIns="54864" rIns="54864" tIns="27432" bIns="27432">
            <a:spAutoFit/>
          </a:bodyPr>
          <a:lstStyle/>
          <a:p>
            <a:pPr algn="ctr">
              <a:spcAft>
                <a:spcPts val="200"/>
              </a:spcAft>
            </a:pPr>
            <a:r>
              <a:rPr sz="850" b="1">
                <a:solidFill>
                  <a:srgbClr val="C8763C"/>
                </a:solidFill>
                <a:latin typeface="Calibri"/>
              </a:rPr>
              <a:t>DISCOVER</a:t>
            </a:r>
          </a:p>
        </p:txBody>
      </p:sp>
      <p:sp>
        <p:nvSpPr>
          <p:cNvPr id="9" name="TextBox 8"/>
          <p:cNvSpPr txBox="1"/>
          <p:nvPr/>
        </p:nvSpPr>
        <p:spPr>
          <a:xfrm>
            <a:off x="3200400" y="2084831"/>
            <a:ext cx="2834640" cy="228600"/>
          </a:xfrm>
          <a:prstGeom prst="rect">
            <a:avLst/>
          </a:prstGeom>
          <a:noFill/>
        </p:spPr>
        <p:txBody>
          <a:bodyPr wrap="square" anchor="t" lIns="54864" rIns="54864" tIns="27432" bIns="27432">
            <a:spAutoFit/>
          </a:bodyPr>
          <a:lstStyle/>
          <a:p>
            <a:pPr algn="ctr">
              <a:spcAft>
                <a:spcPts val="200"/>
              </a:spcAft>
            </a:pPr>
            <a:r>
              <a:rPr sz="850" b="1">
                <a:solidFill>
                  <a:srgbClr val="C8763C"/>
                </a:solidFill>
                <a:latin typeface="Calibri"/>
              </a:rPr>
              <a:t>MEASURE PEERS  (2 LAYERS)</a:t>
            </a:r>
          </a:p>
        </p:txBody>
      </p:sp>
      <p:sp>
        <p:nvSpPr>
          <p:cNvPr id="10" name="TextBox 9"/>
          <p:cNvSpPr txBox="1"/>
          <p:nvPr/>
        </p:nvSpPr>
        <p:spPr>
          <a:xfrm>
            <a:off x="6675120" y="2084831"/>
            <a:ext cx="1828800" cy="228600"/>
          </a:xfrm>
          <a:prstGeom prst="rect">
            <a:avLst/>
          </a:prstGeom>
          <a:noFill/>
        </p:spPr>
        <p:txBody>
          <a:bodyPr wrap="square" anchor="t" lIns="54864" rIns="54864" tIns="27432" bIns="27432">
            <a:spAutoFit/>
          </a:bodyPr>
          <a:lstStyle/>
          <a:p>
            <a:pPr algn="ctr">
              <a:spcAft>
                <a:spcPts val="200"/>
              </a:spcAft>
            </a:pPr>
            <a:r>
              <a:rPr sz="850" b="1">
                <a:solidFill>
                  <a:srgbClr val="C8763C"/>
                </a:solidFill>
                <a:latin typeface="Calibri"/>
              </a:rPr>
              <a:t>UNION</a:t>
            </a:r>
          </a:p>
        </p:txBody>
      </p:sp>
      <p:sp>
        <p:nvSpPr>
          <p:cNvPr id="11" name="TextBox 10"/>
          <p:cNvSpPr txBox="1"/>
          <p:nvPr/>
        </p:nvSpPr>
        <p:spPr>
          <a:xfrm>
            <a:off x="9052560" y="2084831"/>
            <a:ext cx="2651760" cy="228600"/>
          </a:xfrm>
          <a:prstGeom prst="rect">
            <a:avLst/>
          </a:prstGeom>
          <a:noFill/>
        </p:spPr>
        <p:txBody>
          <a:bodyPr wrap="square" anchor="t" lIns="54864" rIns="54864" tIns="27432" bIns="27432">
            <a:spAutoFit/>
          </a:bodyPr>
          <a:lstStyle/>
          <a:p>
            <a:pPr algn="ctr">
              <a:spcAft>
                <a:spcPts val="200"/>
              </a:spcAft>
            </a:pPr>
            <a:r>
              <a:rPr sz="850" b="1">
                <a:solidFill>
                  <a:srgbClr val="C8763C"/>
                </a:solidFill>
                <a:latin typeface="Calibri"/>
              </a:rPr>
              <a:t>PUBLISH  (2 OUTPUTS)</a:t>
            </a:r>
          </a:p>
        </p:txBody>
      </p:sp>
      <p:sp>
        <p:nvSpPr>
          <p:cNvPr id="12" name="Rounded Rectangle 11"/>
          <p:cNvSpPr/>
          <p:nvPr/>
        </p:nvSpPr>
        <p:spPr>
          <a:xfrm>
            <a:off x="457200" y="3063240"/>
            <a:ext cx="2194560" cy="1371600"/>
          </a:xfrm>
          <a:prstGeom prst="roundRect">
            <a:avLst/>
          </a:prstGeom>
          <a:solidFill>
            <a:srgbClr val="FBF8F2"/>
          </a:solidFill>
          <a:ln w="7620">
            <a:solidFill>
              <a:srgbClr val="E6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99816"/>
            <a:ext cx="2103120" cy="1298448"/>
          </a:xfrm>
          <a:prstGeom prst="rect">
            <a:avLst/>
          </a:prstGeom>
          <a:noFill/>
        </p:spPr>
        <p:txBody>
          <a:bodyPr wrap="square" anchor="ctr" lIns="54864" rIns="54864" tIns="27432" bIns="27432">
            <a:spAutoFit/>
          </a:bodyPr>
          <a:lstStyle/>
          <a:p>
            <a:pPr algn="l">
              <a:spcAft>
                <a:spcPts val="200"/>
              </a:spcAft>
            </a:pPr>
            <a:r>
              <a:rPr sz="1250" b="1">
                <a:solidFill>
                  <a:srgbClr val="0B1F3A"/>
                </a:solidFill>
                <a:latin typeface="Georgia"/>
              </a:rPr>
              <a:t>Discover hashes</a:t>
            </a:r>
          </a:p>
          <a:p>
            <a:pPr algn="l">
              <a:spcAft>
                <a:spcPts val="200"/>
              </a:spcAft>
            </a:pPr>
            <a:r>
              <a:rPr sz="900" b="0">
                <a:solidFill>
                  <a:srgbClr val="5A5A5A"/>
                </a:solidFill>
                <a:latin typeface="Calibri"/>
              </a:rPr>
              <a:t>TPB · EZTV · Nyaa · YTS · TMDB · AniList + raw DHT crawl. ~70k titles tracked.</a:t>
            </a:r>
          </a:p>
        </p:txBody>
      </p:sp>
      <p:sp>
        <p:nvSpPr>
          <p:cNvPr id="14" name="Rounded Rectangle 13"/>
          <p:cNvSpPr/>
          <p:nvPr/>
        </p:nvSpPr>
        <p:spPr>
          <a:xfrm>
            <a:off x="3200400" y="2423160"/>
            <a:ext cx="2834640" cy="1325880"/>
          </a:xfrm>
          <a:prstGeom prst="roundRect">
            <a:avLst/>
          </a:prstGeom>
          <a:solidFill>
            <a:srgbClr val="FBF8F2"/>
          </a:solidFill>
          <a:ln w="7620">
            <a:solidFill>
              <a:srgbClr val="E6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2459736"/>
            <a:ext cx="2743200" cy="1252728"/>
          </a:xfrm>
          <a:prstGeom prst="rect">
            <a:avLst/>
          </a:prstGeom>
          <a:noFill/>
        </p:spPr>
        <p:txBody>
          <a:bodyPr wrap="square" anchor="ctr" lIns="54864" rIns="54864" tIns="27432" bIns="27432">
            <a:spAutoFit/>
          </a:bodyPr>
          <a:lstStyle/>
          <a:p>
            <a:pPr algn="l">
              <a:spcAft>
                <a:spcPts val="200"/>
              </a:spcAft>
            </a:pPr>
            <a:r>
              <a:rPr sz="800" b="1">
                <a:solidFill>
                  <a:srgbClr val="8A8275"/>
                </a:solidFill>
                <a:latin typeface="Calibri"/>
              </a:rPr>
              <a:t>WEAK SAMPLE</a:t>
            </a:r>
          </a:p>
          <a:p>
            <a:pPr algn="l">
              <a:spcAft>
                <a:spcPts val="200"/>
              </a:spcAft>
            </a:pPr>
            <a:r>
              <a:rPr sz="1250" b="1">
                <a:solidFill>
                  <a:srgbClr val="0B1F3A"/>
                </a:solidFill>
                <a:latin typeface="Georgia"/>
              </a:rPr>
              <a:t>DHT peer count</a:t>
            </a:r>
          </a:p>
          <a:p>
            <a:pPr algn="l">
              <a:spcAft>
                <a:spcPts val="200"/>
              </a:spcAft>
            </a:pPr>
            <a:r>
              <a:rPr sz="900" b="0">
                <a:solidFill>
                  <a:srgbClr val="5A5A5A"/>
                </a:solidFill>
                <a:latin typeface="Calibri"/>
              </a:rPr>
              <a:t>Quick sample of each swarm. Undercounts distinct IPs 3–39×.</a:t>
            </a:r>
          </a:p>
        </p:txBody>
      </p:sp>
      <p:sp>
        <p:nvSpPr>
          <p:cNvPr id="16" name="Rounded Rectangle 15"/>
          <p:cNvSpPr/>
          <p:nvPr/>
        </p:nvSpPr>
        <p:spPr>
          <a:xfrm>
            <a:off x="3200400" y="4160520"/>
            <a:ext cx="2834640" cy="132588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6120" y="4197096"/>
            <a:ext cx="2743200" cy="1252728"/>
          </a:xfrm>
          <a:prstGeom prst="rect">
            <a:avLst/>
          </a:prstGeom>
          <a:noFill/>
        </p:spPr>
        <p:txBody>
          <a:bodyPr wrap="square" anchor="ctr" lIns="54864" rIns="54864" tIns="27432" bIns="27432">
            <a:spAutoFit/>
          </a:bodyPr>
          <a:lstStyle/>
          <a:p>
            <a:pPr algn="l">
              <a:spcAft>
                <a:spcPts val="200"/>
              </a:spcAft>
            </a:pPr>
            <a:r>
              <a:rPr sz="800" b="1">
                <a:solidFill>
                  <a:srgbClr val="C8763C"/>
                </a:solidFill>
                <a:latin typeface="Calibri"/>
              </a:rPr>
              <a:t>STRONG SIGNAL</a:t>
            </a:r>
          </a:p>
          <a:p>
            <a:pPr algn="l">
              <a:spcAft>
                <a:spcPts val="200"/>
              </a:spcAft>
            </a:pPr>
            <a:r>
              <a:rPr sz="1250" b="1">
                <a:solidFill>
                  <a:srgbClr val="FFFFFF"/>
                </a:solidFill>
                <a:latin typeface="Georgia"/>
              </a:rPr>
              <a:t>Tracker harvester</a:t>
            </a:r>
          </a:p>
          <a:p>
            <a:pPr algn="l">
              <a:spcAft>
                <a:spcPts val="200"/>
              </a:spcAft>
            </a:pPr>
            <a:r>
              <a:rPr sz="900" b="0">
                <a:solidFill>
                  <a:srgbClr val="CADCFC"/>
                </a:solidFill>
                <a:latin typeface="Calibri"/>
              </a:rPr>
              <a:t>Re-asks each swarm’s trackers all day; unions the churn. Reaches real-world scale.</a:t>
            </a:r>
          </a:p>
        </p:txBody>
      </p:sp>
      <p:sp>
        <p:nvSpPr>
          <p:cNvPr id="18" name="Rounded Rectangle 17"/>
          <p:cNvSpPr/>
          <p:nvPr/>
        </p:nvSpPr>
        <p:spPr>
          <a:xfrm>
            <a:off x="6675120" y="3063240"/>
            <a:ext cx="1828800" cy="1371600"/>
          </a:xfrm>
          <a:prstGeom prst="roundRect">
            <a:avLst/>
          </a:prstGeom>
          <a:solidFill>
            <a:srgbClr val="FBF8F2"/>
          </a:solidFill>
          <a:ln w="7620">
            <a:solidFill>
              <a:srgbClr val="E6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3099816"/>
            <a:ext cx="1737360" cy="1298448"/>
          </a:xfrm>
          <a:prstGeom prst="rect">
            <a:avLst/>
          </a:prstGeom>
          <a:noFill/>
        </p:spPr>
        <p:txBody>
          <a:bodyPr wrap="square" anchor="ctr" lIns="54864" rIns="54864" tIns="27432" bIns="27432">
            <a:spAutoFit/>
          </a:bodyPr>
          <a:lstStyle/>
          <a:p>
            <a:pPr algn="l">
              <a:spcAft>
                <a:spcPts val="200"/>
              </a:spcAft>
            </a:pPr>
            <a:r>
              <a:rPr sz="1250" b="1">
                <a:solidFill>
                  <a:srgbClr val="0B1F3A"/>
                </a:solidFill>
                <a:latin typeface="Georgia"/>
              </a:rPr>
              <a:t>Daily union</a:t>
            </a:r>
          </a:p>
          <a:p>
            <a:pPr algn="l">
              <a:spcAft>
                <a:spcPts val="200"/>
              </a:spcAft>
            </a:pPr>
            <a:r>
              <a:rPr sz="900" b="0">
                <a:solidFill>
                  <a:srgbClr val="5A5A5A"/>
                </a:solidFill>
                <a:latin typeface="Calibri"/>
              </a:rPr>
              <a:t>Dedupe distinct sharer IPs per title × country × day. Drop noise &lt; 10.</a:t>
            </a:r>
          </a:p>
        </p:txBody>
      </p:sp>
      <p:sp>
        <p:nvSpPr>
          <p:cNvPr id="20" name="Rounded Rectangle 19"/>
          <p:cNvSpPr/>
          <p:nvPr/>
        </p:nvSpPr>
        <p:spPr>
          <a:xfrm>
            <a:off x="9052560" y="2423160"/>
            <a:ext cx="2651760" cy="132588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459736"/>
            <a:ext cx="2560320" cy="1252728"/>
          </a:xfrm>
          <a:prstGeom prst="rect">
            <a:avLst/>
          </a:prstGeom>
          <a:noFill/>
        </p:spPr>
        <p:txBody>
          <a:bodyPr wrap="square" anchor="ctr" lIns="54864" rIns="54864" tIns="27432" bIns="27432">
            <a:spAutoFit/>
          </a:bodyPr>
          <a:lstStyle/>
          <a:p>
            <a:pPr algn="l">
              <a:spcAft>
                <a:spcPts val="200"/>
              </a:spcAft>
            </a:pPr>
            <a:r>
              <a:rPr sz="800" b="1">
                <a:solidFill>
                  <a:srgbClr val="C8763C"/>
                </a:solidFill>
                <a:latin typeface="Calibri"/>
              </a:rPr>
              <a:t>PRIMARY OUTPUT</a:t>
            </a:r>
          </a:p>
          <a:p>
            <a:pPr algn="l">
              <a:spcAft>
                <a:spcPts val="200"/>
              </a:spcAft>
            </a:pPr>
            <a:r>
              <a:rPr sz="1250" b="1">
                <a:solidFill>
                  <a:srgbClr val="FFFFFF"/>
                </a:solidFill>
                <a:latin typeface="Georgia"/>
              </a:rPr>
              <a:t>Per-country demand feed</a:t>
            </a:r>
          </a:p>
          <a:p>
            <a:pPr algn="l">
              <a:spcAft>
                <a:spcPts val="200"/>
              </a:spcAft>
            </a:pPr>
            <a:r>
              <a:rPr sz="900" b="0">
                <a:solidFill>
                  <a:srgbClr val="CADCFC"/>
                </a:solidFill>
                <a:latin typeface="Calibri"/>
              </a:rPr>
              <a:t>Distinct IP_COUNT per title × country/day. Our own feed (+ velocity).</a:t>
            </a:r>
          </a:p>
        </p:txBody>
      </p:sp>
      <p:sp>
        <p:nvSpPr>
          <p:cNvPr id="22" name="Rounded Rectangle 21"/>
          <p:cNvSpPr/>
          <p:nvPr/>
        </p:nvSpPr>
        <p:spPr>
          <a:xfrm>
            <a:off x="9052560" y="4160520"/>
            <a:ext cx="2651760" cy="1325880"/>
          </a:xfrm>
          <a:prstGeom prst="roundRect">
            <a:avLst/>
          </a:prstGeom>
          <a:solidFill>
            <a:srgbClr val="FBF8F2"/>
          </a:solidFill>
          <a:ln w="7620">
            <a:solidFill>
              <a:srgbClr val="E6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98280" y="4197096"/>
            <a:ext cx="2560320" cy="1252728"/>
          </a:xfrm>
          <a:prstGeom prst="rect">
            <a:avLst/>
          </a:prstGeom>
          <a:noFill/>
        </p:spPr>
        <p:txBody>
          <a:bodyPr wrap="square" anchor="ctr" lIns="54864" rIns="54864" tIns="27432" bIns="27432">
            <a:spAutoFit/>
          </a:bodyPr>
          <a:lstStyle/>
          <a:p>
            <a:pPr algn="l">
              <a:spcAft>
                <a:spcPts val="200"/>
              </a:spcAft>
            </a:pPr>
            <a:r>
              <a:rPr sz="800" b="1">
                <a:solidFill>
                  <a:srgbClr val="8A8275"/>
                </a:solidFill>
                <a:latin typeface="Calibri"/>
              </a:rPr>
              <a:t>LEGACY</a:t>
            </a:r>
          </a:p>
          <a:p>
            <a:pPr algn="l">
              <a:spcAft>
                <a:spcPts val="200"/>
              </a:spcAft>
            </a:pPr>
            <a:r>
              <a:rPr sz="1250" b="1">
                <a:solidFill>
                  <a:srgbClr val="0B1F3A"/>
                </a:solidFill>
                <a:latin typeface="Georgia"/>
              </a:rPr>
              <a:t>Dashboard feed</a:t>
            </a:r>
          </a:p>
          <a:p>
            <a:pPr algn="l">
              <a:spcAft>
                <a:spcPts val="200"/>
              </a:spcAft>
            </a:pPr>
            <a:r>
              <a:rPr sz="900" b="0">
                <a:solidFill>
                  <a:srgbClr val="5A5A5A"/>
                </a:solidFill>
                <a:latin typeface="Calibri"/>
              </a:rPr>
              <a:t>DHT-only peer counts → S3 → dashboard (4×/day).</a:t>
            </a:r>
          </a:p>
        </p:txBody>
      </p:sp>
      <p:cxnSp>
        <p:nvCxnSpPr>
          <p:cNvPr id="24" name="Connector 23"/>
          <p:cNvCxnSpPr/>
          <p:nvPr/>
        </p:nvCxnSpPr>
        <p:spPr>
          <a:xfrm flipV="1">
            <a:off x="2651760" y="3086100"/>
            <a:ext cx="548640" cy="662939"/>
          </a:xfrm>
          <a:prstGeom prst="line">
            <a:avLst/>
          </a:prstGeom>
          <a:ln w="19050">
            <a:solidFill>
              <a:srgbClr val="C87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51760" y="3749039"/>
            <a:ext cx="548640" cy="1074421"/>
          </a:xfrm>
          <a:prstGeom prst="line">
            <a:avLst/>
          </a:prstGeom>
          <a:ln w="19050">
            <a:solidFill>
              <a:srgbClr val="C87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35040" y="3086100"/>
            <a:ext cx="640080" cy="662939"/>
          </a:xfrm>
          <a:prstGeom prst="line">
            <a:avLst/>
          </a:prstGeom>
          <a:ln w="19050">
            <a:solidFill>
              <a:srgbClr val="C87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35040" y="3749039"/>
            <a:ext cx="640080" cy="1074421"/>
          </a:xfrm>
          <a:prstGeom prst="line">
            <a:avLst/>
          </a:prstGeom>
          <a:ln w="19050">
            <a:solidFill>
              <a:srgbClr val="C87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503920" y="3086100"/>
            <a:ext cx="548640" cy="662939"/>
          </a:xfrm>
          <a:prstGeom prst="line">
            <a:avLst/>
          </a:prstGeom>
          <a:ln w="19050">
            <a:solidFill>
              <a:srgbClr val="C87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503920" y="3749039"/>
            <a:ext cx="548640" cy="1074421"/>
          </a:xfrm>
          <a:prstGeom prst="line">
            <a:avLst/>
          </a:prstGeom>
          <a:ln w="19050">
            <a:solidFill>
              <a:srgbClr val="C876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5806440"/>
            <a:ext cx="11274552" cy="457200"/>
          </a:xfrm>
          <a:prstGeom prst="rect">
            <a:avLst/>
          </a:prstGeom>
          <a:noFill/>
        </p:spPr>
        <p:txBody>
          <a:bodyPr wrap="square" anchor="t" lIns="54864" rIns="54864" tIns="27432" bIns="27432">
            <a:spAutoFit/>
          </a:bodyPr>
          <a:lstStyle/>
          <a:p>
            <a:pPr algn="l">
              <a:spcAft>
                <a:spcPts val="200"/>
              </a:spcAft>
            </a:pPr>
            <a:r>
              <a:rPr sz="900" b="0">
                <a:solidFill>
                  <a:srgbClr val="8A8275"/>
                </a:solidFill>
                <a:latin typeface="Calibri"/>
              </a:rPr>
              <a:t>Why two layers: the harvester closes the 3–39× undercount that DHT sampling alone leaves open.  Navy = primary feed · cream = supporting/legacy.  All of this runs on one US server (EU vantage retired).</a:t>
            </a:r>
          </a:p>
        </p:txBody>
      </p:sp>
      <p:sp>
        <p:nvSpPr>
          <p:cNvPr id="31" name="Rectangle 30"/>
          <p:cNvSpPr/>
          <p:nvPr/>
        </p:nvSpPr>
        <p:spPr>
          <a:xfrm>
            <a:off x="457200" y="6400800"/>
            <a:ext cx="11274552" cy="10972"/>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400800"/>
            <a:ext cx="2743200" cy="274320"/>
          </a:xfrm>
          <a:prstGeom prst="rect">
            <a:avLst/>
          </a:prstGeom>
          <a:noFill/>
        </p:spPr>
        <p:txBody>
          <a:bodyPr wrap="square" anchor="t" lIns="54864" rIns="54864" tIns="27432" bIns="27432">
            <a:spAutoFit/>
          </a:bodyPr>
          <a:lstStyle/>
          <a:p>
            <a:pPr algn="l">
              <a:spcAft>
                <a:spcPts val="200"/>
              </a:spcAft>
            </a:pPr>
            <a:r>
              <a:rPr sz="900" b="1">
                <a:solidFill>
                  <a:srgbClr val="8A8275"/>
                </a:solidFill>
                <a:latin typeface="Georgia"/>
              </a:rPr>
              <a:t>PANTHEON</a:t>
            </a:r>
          </a:p>
        </p:txBody>
      </p:sp>
      <p:sp>
        <p:nvSpPr>
          <p:cNvPr id="33" name="TextBox 32"/>
          <p:cNvSpPr txBox="1"/>
          <p:nvPr/>
        </p:nvSpPr>
        <p:spPr>
          <a:xfrm>
            <a:off x="3840480" y="6400800"/>
            <a:ext cx="4572000" cy="274320"/>
          </a:xfrm>
          <a:prstGeom prst="rect">
            <a:avLst/>
          </a:prstGeom>
          <a:noFill/>
        </p:spPr>
        <p:txBody>
          <a:bodyPr wrap="square" anchor="t" lIns="54864" rIns="54864" tIns="27432" bIns="27432">
            <a:spAutoFit/>
          </a:bodyPr>
          <a:lstStyle/>
          <a:p>
            <a:pPr algn="l">
              <a:spcAft>
                <a:spcPts val="200"/>
              </a:spcAft>
            </a:pPr>
            <a:r>
              <a:rPr sz="900" b="0">
                <a:solidFill>
                  <a:srgbClr val="8A8275"/>
                </a:solidFill>
                <a:latin typeface="Calibri"/>
              </a:rPr>
              <a:t>Piracy Intelligence  ·  May 2026</a:t>
            </a:r>
          </a:p>
        </p:txBody>
      </p:sp>
      <p:sp>
        <p:nvSpPr>
          <p:cNvPr id="34" name="TextBox 33"/>
          <p:cNvSpPr txBox="1"/>
          <p:nvPr/>
        </p:nvSpPr>
        <p:spPr>
          <a:xfrm>
            <a:off x="10607040" y="6400800"/>
            <a:ext cx="1097280" cy="274320"/>
          </a:xfrm>
          <a:prstGeom prst="rect">
            <a:avLst/>
          </a:prstGeom>
          <a:noFill/>
        </p:spPr>
        <p:txBody>
          <a:bodyPr wrap="square" anchor="t" lIns="54864" rIns="54864" tIns="27432" bIns="27432">
            <a:spAutoFit/>
          </a:bodyPr>
          <a:lstStyle/>
          <a:p>
            <a:pPr algn="r">
              <a:spcAft>
                <a:spcPts val="200"/>
              </a:spcAft>
            </a:pPr>
            <a:r>
              <a:rPr sz="900" b="0">
                <a:solidFill>
                  <a:srgbClr val="8A8275"/>
                </a:solidFill>
                <a:latin typeface="Consolas"/>
              </a:rPr>
              <a:t>06 / 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04</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SOURCE INVENTORY</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Where We Get Our Data From</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Text 5"/>
          <p:cNvSpPr/>
          <p:nvPr/>
        </p:nvSpPr>
        <p:spPr>
          <a:xfrm>
            <a:off x="457200" y="1691640"/>
            <a:ext cx="11274552" cy="640080"/>
          </a:xfrm>
          <a:prstGeom prst="rect">
            <a:avLst/>
          </a:prstGeom>
          <a:noFill/>
          <a:ln/>
        </p:spPr>
        <p:txBody>
          <a:bodyPr wrap="square" rtlCol="0" anchor="ctr"/>
          <a:lstStyle/>
          <a:p>
            <a:pPr marL="0" indent="0">
              <a:lnSpc>
                <a:spcPct val="135000"/>
              </a:lnSpc>
              <a:buNone/>
            </a:pPr>
            <a:r>
              <a:rPr lang="en-US" sz="1300" i="1" dirty="0">
                <a:solidFill>
                  <a:srgbClr val="5A5A5A"/>
                </a:solidFill>
                <a:latin typeface="Calibri" pitchFamily="34" charset="0"/>
                <a:ea typeface="Calibri" pitchFamily="34" charset="-122"/>
                <a:cs typeface="Calibri" pitchFamily="34" charset="-120"/>
              </a:rPr>
              <a:t>Trending hashes are collected from a portfolio of sources — each covering a different slice of pirated content. Cross-referencing increases coverage and catches gaps.</a:t>
            </a:r>
            <a:endParaRPr lang="en-US" sz="1300" dirty="0"/>
          </a:p>
        </p:txBody>
      </p:sp>
      <p:sp>
        <p:nvSpPr>
          <p:cNvPr id="8" name="Shape 6"/>
          <p:cNvSpPr/>
          <p:nvPr/>
        </p:nvSpPr>
        <p:spPr>
          <a:xfrm>
            <a:off x="457200" y="2514600"/>
            <a:ext cx="11274552" cy="365760"/>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640080" y="2514600"/>
            <a:ext cx="246888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SOURCE</a:t>
            </a:r>
            <a:endParaRPr lang="en-US" sz="1000" dirty="0"/>
          </a:p>
        </p:txBody>
      </p:sp>
      <p:sp>
        <p:nvSpPr>
          <p:cNvPr id="10" name="Text 8"/>
          <p:cNvSpPr/>
          <p:nvPr/>
        </p:nvSpPr>
        <p:spPr>
          <a:xfrm>
            <a:off x="3108960" y="2514600"/>
            <a:ext cx="182880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CONTENT TYPE</a:t>
            </a:r>
            <a:endParaRPr lang="en-US" sz="1000" dirty="0"/>
          </a:p>
        </p:txBody>
      </p:sp>
      <p:sp>
        <p:nvSpPr>
          <p:cNvPr id="11" name="Text 9"/>
          <p:cNvSpPr/>
          <p:nvPr/>
        </p:nvSpPr>
        <p:spPr>
          <a:xfrm>
            <a:off x="4937760" y="2514600"/>
            <a:ext cx="640080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WHAT WE GET</a:t>
            </a:r>
            <a:endParaRPr lang="en-US" sz="1000" dirty="0"/>
          </a:p>
        </p:txBody>
      </p:sp>
      <p:sp>
        <p:nvSpPr>
          <p:cNvPr id="12" name="Shape 10"/>
          <p:cNvSpPr/>
          <p:nvPr/>
        </p:nvSpPr>
        <p:spPr>
          <a:xfrm>
            <a:off x="457200" y="2880360"/>
            <a:ext cx="11274552" cy="393192"/>
          </a:xfrm>
          <a:prstGeom prst="rect">
            <a:avLst/>
          </a:prstGeom>
          <a:solidFill>
            <a:srgbClr val="FBF8F2"/>
          </a:solidFill>
          <a:ln w="12700">
            <a:solidFill>
              <a:srgbClr val="FBF8F2"/>
            </a:solidFill>
            <a:prstDash val="solid"/>
          </a:ln>
        </p:spPr>
        <p:txBody>
          <a:bodyPr/>
          <a:lstStyle/>
          <a:p>
            <a:endParaRPr lang="en-US"/>
          </a:p>
        </p:txBody>
      </p:sp>
      <p:sp>
        <p:nvSpPr>
          <p:cNvPr id="13" name="Text 11"/>
          <p:cNvSpPr/>
          <p:nvPr/>
        </p:nvSpPr>
        <p:spPr>
          <a:xfrm>
            <a:off x="640080" y="2880360"/>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The Pirate Bay (TPB)</a:t>
            </a:r>
            <a:endParaRPr lang="en-US" sz="1200" dirty="0"/>
          </a:p>
        </p:txBody>
      </p:sp>
      <p:sp>
        <p:nvSpPr>
          <p:cNvPr id="14" name="Text 12"/>
          <p:cNvSpPr/>
          <p:nvPr/>
        </p:nvSpPr>
        <p:spPr>
          <a:xfrm>
            <a:off x="3108960" y="2880360"/>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Movies &amp; TV</a:t>
            </a:r>
            <a:endParaRPr lang="en-US" sz="1100" dirty="0"/>
          </a:p>
        </p:txBody>
      </p:sp>
      <p:sp>
        <p:nvSpPr>
          <p:cNvPr id="15" name="Text 13"/>
          <p:cNvSpPr/>
          <p:nvPr/>
        </p:nvSpPr>
        <p:spPr>
          <a:xfrm>
            <a:off x="4937760" y="2880360"/>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Top 100 trending torrents across all categories</a:t>
            </a:r>
            <a:endParaRPr lang="en-US" sz="1100" dirty="0"/>
          </a:p>
        </p:txBody>
      </p:sp>
      <p:sp>
        <p:nvSpPr>
          <p:cNvPr id="16" name="Text 14"/>
          <p:cNvSpPr/>
          <p:nvPr/>
        </p:nvSpPr>
        <p:spPr>
          <a:xfrm>
            <a:off x="640080" y="3273552"/>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EZTV</a:t>
            </a:r>
            <a:endParaRPr lang="en-US" sz="1200" dirty="0"/>
          </a:p>
        </p:txBody>
      </p:sp>
      <p:sp>
        <p:nvSpPr>
          <p:cNvPr id="17" name="Text 15"/>
          <p:cNvSpPr/>
          <p:nvPr/>
        </p:nvSpPr>
        <p:spPr>
          <a:xfrm>
            <a:off x="3108960" y="3273552"/>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TV Shows</a:t>
            </a:r>
            <a:endParaRPr lang="en-US" sz="1100" dirty="0"/>
          </a:p>
        </p:txBody>
      </p:sp>
      <p:sp>
        <p:nvSpPr>
          <p:cNvPr id="18" name="Text 16"/>
          <p:cNvSpPr/>
          <p:nvPr/>
        </p:nvSpPr>
        <p:spPr>
          <a:xfrm>
            <a:off x="4937760" y="3273552"/>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Latest TV episode releases as they air</a:t>
            </a:r>
            <a:endParaRPr lang="en-US" sz="1100" dirty="0"/>
          </a:p>
        </p:txBody>
      </p:sp>
      <p:sp>
        <p:nvSpPr>
          <p:cNvPr id="19" name="Shape 17"/>
          <p:cNvSpPr/>
          <p:nvPr/>
        </p:nvSpPr>
        <p:spPr>
          <a:xfrm>
            <a:off x="457200" y="3666744"/>
            <a:ext cx="11274552" cy="393192"/>
          </a:xfrm>
          <a:prstGeom prst="rect">
            <a:avLst/>
          </a:prstGeom>
          <a:solidFill>
            <a:srgbClr val="FBF8F2"/>
          </a:solidFill>
          <a:ln w="12700">
            <a:solidFill>
              <a:srgbClr val="FBF8F2"/>
            </a:solidFill>
            <a:prstDash val="solid"/>
          </a:ln>
        </p:spPr>
        <p:txBody>
          <a:bodyPr/>
          <a:lstStyle/>
          <a:p>
            <a:endParaRPr lang="en-US"/>
          </a:p>
        </p:txBody>
      </p:sp>
      <p:sp>
        <p:nvSpPr>
          <p:cNvPr id="20" name="Text 18"/>
          <p:cNvSpPr/>
          <p:nvPr/>
        </p:nvSpPr>
        <p:spPr>
          <a:xfrm>
            <a:off x="640080" y="3666744"/>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Nyaa</a:t>
            </a:r>
            <a:endParaRPr lang="en-US" sz="1200" dirty="0"/>
          </a:p>
        </p:txBody>
      </p:sp>
      <p:sp>
        <p:nvSpPr>
          <p:cNvPr id="21" name="Text 19"/>
          <p:cNvSpPr/>
          <p:nvPr/>
        </p:nvSpPr>
        <p:spPr>
          <a:xfrm>
            <a:off x="3108960" y="3666744"/>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Anime</a:t>
            </a:r>
            <a:endParaRPr lang="en-US" sz="1100" dirty="0"/>
          </a:p>
        </p:txBody>
      </p:sp>
      <p:sp>
        <p:nvSpPr>
          <p:cNvPr id="22" name="Text 20"/>
          <p:cNvSpPr/>
          <p:nvPr/>
        </p:nvSpPr>
        <p:spPr>
          <a:xfrm>
            <a:off x="4937760" y="3666744"/>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Top anime torrents; includes SubsPlease simulcasts</a:t>
            </a:r>
            <a:endParaRPr lang="en-US" sz="1100" dirty="0"/>
          </a:p>
        </p:txBody>
      </p:sp>
      <p:sp>
        <p:nvSpPr>
          <p:cNvPr id="23" name="Text 21"/>
          <p:cNvSpPr/>
          <p:nvPr/>
        </p:nvSpPr>
        <p:spPr>
          <a:xfrm>
            <a:off x="640080" y="4059936"/>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YTS</a:t>
            </a:r>
            <a:endParaRPr lang="en-US" sz="1200" dirty="0"/>
          </a:p>
        </p:txBody>
      </p:sp>
      <p:sp>
        <p:nvSpPr>
          <p:cNvPr id="24" name="Text 22"/>
          <p:cNvSpPr/>
          <p:nvPr/>
        </p:nvSpPr>
        <p:spPr>
          <a:xfrm>
            <a:off x="3108960" y="4059936"/>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Movies</a:t>
            </a:r>
            <a:endParaRPr lang="en-US" sz="1100" dirty="0"/>
          </a:p>
        </p:txBody>
      </p:sp>
      <p:sp>
        <p:nvSpPr>
          <p:cNvPr id="25" name="Text 23"/>
          <p:cNvSpPr/>
          <p:nvPr/>
        </p:nvSpPr>
        <p:spPr>
          <a:xfrm>
            <a:off x="4937760" y="4059936"/>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High-quality movie releases (720p / 1080p / 4K)</a:t>
            </a:r>
            <a:endParaRPr lang="en-US" sz="1100" dirty="0"/>
          </a:p>
        </p:txBody>
      </p:sp>
      <p:sp>
        <p:nvSpPr>
          <p:cNvPr id="26" name="Shape 24"/>
          <p:cNvSpPr/>
          <p:nvPr/>
        </p:nvSpPr>
        <p:spPr>
          <a:xfrm>
            <a:off x="457200" y="4453128"/>
            <a:ext cx="11274552" cy="393192"/>
          </a:xfrm>
          <a:prstGeom prst="rect">
            <a:avLst/>
          </a:prstGeom>
          <a:solidFill>
            <a:srgbClr val="FBF8F2"/>
          </a:solidFill>
          <a:ln w="12700">
            <a:solidFill>
              <a:srgbClr val="FBF8F2"/>
            </a:solidFill>
            <a:prstDash val="solid"/>
          </a:ln>
        </p:spPr>
        <p:txBody>
          <a:bodyPr/>
          <a:lstStyle/>
          <a:p>
            <a:endParaRPr lang="en-US"/>
          </a:p>
        </p:txBody>
      </p:sp>
      <p:sp>
        <p:nvSpPr>
          <p:cNvPr id="27" name="Text 25"/>
          <p:cNvSpPr/>
          <p:nvPr/>
        </p:nvSpPr>
        <p:spPr>
          <a:xfrm>
            <a:off x="640080" y="4453128"/>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TMDB (The Movie DB)</a:t>
            </a:r>
            <a:endParaRPr lang="en-US" sz="1200" dirty="0"/>
          </a:p>
        </p:txBody>
      </p:sp>
      <p:sp>
        <p:nvSpPr>
          <p:cNvPr id="28" name="Text 26"/>
          <p:cNvSpPr/>
          <p:nvPr/>
        </p:nvSpPr>
        <p:spPr>
          <a:xfrm>
            <a:off x="3108960" y="4453128"/>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Movies &amp; TV</a:t>
            </a:r>
            <a:endParaRPr lang="en-US" sz="1100" dirty="0"/>
          </a:p>
        </p:txBody>
      </p:sp>
      <p:sp>
        <p:nvSpPr>
          <p:cNvPr id="29" name="Text 27"/>
          <p:cNvSpPr/>
          <p:nvPr/>
        </p:nvSpPr>
        <p:spPr>
          <a:xfrm>
            <a:off x="4937760" y="4453128"/>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Globally trending titles — used to proactively find hashes</a:t>
            </a:r>
            <a:endParaRPr lang="en-US" sz="1100" dirty="0"/>
          </a:p>
        </p:txBody>
      </p:sp>
      <p:sp>
        <p:nvSpPr>
          <p:cNvPr id="30" name="Text 28"/>
          <p:cNvSpPr/>
          <p:nvPr/>
        </p:nvSpPr>
        <p:spPr>
          <a:xfrm>
            <a:off x="640080" y="4846320"/>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AniList</a:t>
            </a:r>
            <a:endParaRPr lang="en-US" sz="1200" dirty="0"/>
          </a:p>
        </p:txBody>
      </p:sp>
      <p:sp>
        <p:nvSpPr>
          <p:cNvPr id="31" name="Text 29"/>
          <p:cNvSpPr/>
          <p:nvPr/>
        </p:nvSpPr>
        <p:spPr>
          <a:xfrm>
            <a:off x="3108960" y="4846320"/>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Anime</a:t>
            </a:r>
            <a:endParaRPr lang="en-US" sz="1100" dirty="0"/>
          </a:p>
        </p:txBody>
      </p:sp>
      <p:sp>
        <p:nvSpPr>
          <p:cNvPr id="32" name="Text 30"/>
          <p:cNvSpPr/>
          <p:nvPr/>
        </p:nvSpPr>
        <p:spPr>
          <a:xfrm>
            <a:off x="4937760" y="4846320"/>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Top 500 anime by popularity — cross-referenced with Nyaa</a:t>
            </a:r>
            <a:endParaRPr lang="en-US" sz="1100" dirty="0"/>
          </a:p>
        </p:txBody>
      </p:sp>
      <p:sp>
        <p:nvSpPr>
          <p:cNvPr id="33" name="Shape 31"/>
          <p:cNvSpPr/>
          <p:nvPr/>
        </p:nvSpPr>
        <p:spPr>
          <a:xfrm>
            <a:off x="457200" y="5239512"/>
            <a:ext cx="11274552" cy="393192"/>
          </a:xfrm>
          <a:prstGeom prst="rect">
            <a:avLst/>
          </a:prstGeom>
          <a:solidFill>
            <a:srgbClr val="FBF8F2"/>
          </a:solidFill>
          <a:ln w="12700">
            <a:solidFill>
              <a:srgbClr val="FBF8F2"/>
            </a:solidFill>
            <a:prstDash val="solid"/>
          </a:ln>
        </p:spPr>
        <p:txBody>
          <a:bodyPr/>
          <a:lstStyle/>
          <a:p>
            <a:endParaRPr lang="en-US"/>
          </a:p>
        </p:txBody>
      </p:sp>
      <p:sp>
        <p:nvSpPr>
          <p:cNvPr id="34" name="Text 32"/>
          <p:cNvSpPr/>
          <p:nvPr/>
        </p:nvSpPr>
        <p:spPr>
          <a:xfrm>
            <a:off x="640080" y="5239512"/>
            <a:ext cx="246888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DHT Network (BEP-51)</a:t>
            </a:r>
            <a:endParaRPr lang="en-US" sz="1200" dirty="0"/>
          </a:p>
        </p:txBody>
      </p:sp>
      <p:sp>
        <p:nvSpPr>
          <p:cNvPr id="35" name="Text 33"/>
          <p:cNvSpPr/>
          <p:nvPr/>
        </p:nvSpPr>
        <p:spPr>
          <a:xfrm>
            <a:off x="3108960" y="5239512"/>
            <a:ext cx="1828800" cy="393192"/>
          </a:xfrm>
          <a:prstGeom prst="rect">
            <a:avLst/>
          </a:prstGeom>
          <a:noFill/>
          <a:ln/>
        </p:spPr>
        <p:txBody>
          <a:bodyPr wrap="square" rtlCol="0" anchor="ctr"/>
          <a:lstStyle/>
          <a:p>
            <a:pPr marL="0" indent="0">
              <a:buNone/>
            </a:pPr>
            <a:r>
              <a:rPr lang="en-US" sz="1100" i="1" dirty="0">
                <a:solidFill>
                  <a:srgbClr val="9A5825"/>
                </a:solidFill>
                <a:latin typeface="Calibri" pitchFamily="34" charset="0"/>
                <a:ea typeface="Calibri" pitchFamily="34" charset="-122"/>
                <a:cs typeface="Calibri" pitchFamily="34" charset="-120"/>
              </a:rPr>
              <a:t>All types</a:t>
            </a:r>
            <a:endParaRPr lang="en-US" sz="1100" dirty="0"/>
          </a:p>
        </p:txBody>
      </p:sp>
      <p:sp>
        <p:nvSpPr>
          <p:cNvPr id="36" name="Text 34"/>
          <p:cNvSpPr/>
          <p:nvPr/>
        </p:nvSpPr>
        <p:spPr>
          <a:xfrm>
            <a:off x="4937760" y="5239512"/>
            <a:ext cx="640080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Direct crawl of the network — discovers content not listed anywhere yet</a:t>
            </a:r>
            <a:endParaRPr lang="en-US" sz="1100" dirty="0"/>
          </a:p>
        </p:txBody>
      </p:sp>
      <p:sp>
        <p:nvSpPr>
          <p:cNvPr id="37" name="Shape 35"/>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38" name="Text 36"/>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39" name="Text 37"/>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40" name="Text 38"/>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05</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PER-SCAN RECORD STRUCTURE</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What Data We Capture</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Text 5"/>
          <p:cNvSpPr/>
          <p:nvPr/>
        </p:nvSpPr>
        <p:spPr>
          <a:xfrm>
            <a:off x="457200" y="1691640"/>
            <a:ext cx="11274552" cy="548640"/>
          </a:xfrm>
          <a:prstGeom prst="rect">
            <a:avLst/>
          </a:prstGeom>
          <a:noFill/>
          <a:ln/>
        </p:spPr>
        <p:txBody>
          <a:bodyPr wrap="square" rtlCol="0" anchor="ctr"/>
          <a:lstStyle/>
          <a:p>
            <a:pPr marL="0" indent="0">
              <a:buNone/>
            </a:pPr>
            <a:r>
              <a:rPr lang="en-US" sz="1300" i="1" dirty="0">
                <a:solidFill>
                  <a:srgbClr val="5A5A5A"/>
                </a:solidFill>
                <a:latin typeface="Calibri" pitchFamily="34" charset="0"/>
                <a:ea typeface="Calibri" pitchFamily="34" charset="-122"/>
                <a:cs typeface="Calibri" pitchFamily="34" charset="-120"/>
              </a:rPr>
              <a:t>Our per-country demand feed counts distinct sharer IPs per title × country × day (the daily union). Below is the row-level shape of that file.</a:t>
            </a:r>
            <a:endParaRPr lang="en-US" sz="1300" dirty="0"/>
          </a:p>
        </p:txBody>
      </p:sp>
      <p:sp>
        <p:nvSpPr>
          <p:cNvPr id="8" name="Shape 6"/>
          <p:cNvSpPr/>
          <p:nvPr/>
        </p:nvSpPr>
        <p:spPr>
          <a:xfrm>
            <a:off x="457200" y="2423160"/>
            <a:ext cx="11274552" cy="365760"/>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640080" y="2423160"/>
            <a:ext cx="219456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DATA FIELD</a:t>
            </a:r>
            <a:endParaRPr lang="en-US" sz="1000" dirty="0"/>
          </a:p>
        </p:txBody>
      </p:sp>
      <p:sp>
        <p:nvSpPr>
          <p:cNvPr id="10" name="Text 8"/>
          <p:cNvSpPr/>
          <p:nvPr/>
        </p:nvSpPr>
        <p:spPr>
          <a:xfrm>
            <a:off x="2834640" y="2423160"/>
            <a:ext cx="274320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EXAMPLE</a:t>
            </a:r>
            <a:endParaRPr lang="en-US" sz="1000" dirty="0"/>
          </a:p>
        </p:txBody>
      </p:sp>
      <p:sp>
        <p:nvSpPr>
          <p:cNvPr id="11" name="Text 9"/>
          <p:cNvSpPr/>
          <p:nvPr/>
        </p:nvSpPr>
        <p:spPr>
          <a:xfrm>
            <a:off x="5577840" y="2423160"/>
            <a:ext cx="576072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WHAT IT TELLS US</a:t>
            </a:r>
            <a:endParaRPr lang="en-US" sz="1000" dirty="0"/>
          </a:p>
        </p:txBody>
      </p:sp>
      <p:sp>
        <p:nvSpPr>
          <p:cNvPr id="12" name="Shape 10"/>
          <p:cNvSpPr/>
          <p:nvPr/>
        </p:nvSpPr>
        <p:spPr>
          <a:xfrm>
            <a:off x="457200" y="2788920"/>
            <a:ext cx="11274552" cy="393192"/>
          </a:xfrm>
          <a:prstGeom prst="rect">
            <a:avLst/>
          </a:prstGeom>
          <a:solidFill>
            <a:srgbClr val="FBF8F2"/>
          </a:solidFill>
          <a:ln w="12700">
            <a:solidFill>
              <a:srgbClr val="FBF8F2"/>
            </a:solidFill>
            <a:prstDash val="solid"/>
          </a:ln>
        </p:spPr>
        <p:txBody>
          <a:bodyPr/>
          <a:lstStyle/>
          <a:p>
            <a:endParaRPr lang="en-US"/>
          </a:p>
        </p:txBody>
      </p:sp>
      <p:sp>
        <p:nvSpPr>
          <p:cNvPr id="13" name="Text 11"/>
          <p:cNvSpPr/>
          <p:nvPr/>
        </p:nvSpPr>
        <p:spPr>
          <a:xfrm>
            <a:off x="640080" y="2788920"/>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Date</a:t>
            </a:r>
            <a:endParaRPr lang="en-US" sz="1200" dirty="0"/>
          </a:p>
        </p:txBody>
      </p:sp>
      <p:sp>
        <p:nvSpPr>
          <p:cNvPr id="14" name="Text 12"/>
          <p:cNvSpPr/>
          <p:nvPr/>
        </p:nvSpPr>
        <p:spPr>
          <a:xfrm>
            <a:off x="2834640" y="2788920"/>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2026-05-26</a:t>
            </a:r>
            <a:endParaRPr lang="en-US" sz="1100" dirty="0"/>
          </a:p>
        </p:txBody>
      </p:sp>
      <p:sp>
        <p:nvSpPr>
          <p:cNvPr id="15" name="Text 13"/>
          <p:cNvSpPr/>
          <p:nvPr/>
        </p:nvSpPr>
        <p:spPr>
          <a:xfrm>
            <a:off x="5577840" y="2788920"/>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When this data was collected</a:t>
            </a:r>
            <a:endParaRPr lang="en-US" sz="1100" dirty="0"/>
          </a:p>
        </p:txBody>
      </p:sp>
      <p:sp>
        <p:nvSpPr>
          <p:cNvPr id="16" name="Text 14"/>
          <p:cNvSpPr/>
          <p:nvPr/>
        </p:nvSpPr>
        <p:spPr>
          <a:xfrm>
            <a:off x="640080" y="3182112"/>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Title</a:t>
            </a:r>
            <a:endParaRPr lang="en-US" sz="1200" dirty="0"/>
          </a:p>
        </p:txBody>
      </p:sp>
      <p:sp>
        <p:nvSpPr>
          <p:cNvPr id="17" name="Text 15"/>
          <p:cNvSpPr/>
          <p:nvPr/>
        </p:nvSpPr>
        <p:spPr>
          <a:xfrm>
            <a:off x="2834640" y="3182112"/>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The Grand Tour S05E01</a:t>
            </a:r>
            <a:endParaRPr lang="en-US" sz="1100" dirty="0"/>
          </a:p>
        </p:txBody>
      </p:sp>
      <p:sp>
        <p:nvSpPr>
          <p:cNvPr id="18" name="Text 16"/>
          <p:cNvSpPr/>
          <p:nvPr/>
        </p:nvSpPr>
        <p:spPr>
          <a:xfrm>
            <a:off x="5577840" y="3182112"/>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Name of the movie, show, or anime episode</a:t>
            </a:r>
            <a:endParaRPr lang="en-US" sz="1100" dirty="0"/>
          </a:p>
        </p:txBody>
      </p:sp>
      <p:sp>
        <p:nvSpPr>
          <p:cNvPr id="19" name="Shape 17"/>
          <p:cNvSpPr/>
          <p:nvPr/>
        </p:nvSpPr>
        <p:spPr>
          <a:xfrm>
            <a:off x="457200" y="3575304"/>
            <a:ext cx="11274552" cy="393192"/>
          </a:xfrm>
          <a:prstGeom prst="rect">
            <a:avLst/>
          </a:prstGeom>
          <a:solidFill>
            <a:srgbClr val="FBF8F2"/>
          </a:solidFill>
          <a:ln w="12700">
            <a:solidFill>
              <a:srgbClr val="FBF8F2"/>
            </a:solidFill>
            <a:prstDash val="solid"/>
          </a:ln>
        </p:spPr>
        <p:txBody>
          <a:bodyPr/>
          <a:lstStyle/>
          <a:p>
            <a:endParaRPr lang="en-US"/>
          </a:p>
        </p:txBody>
      </p:sp>
      <p:sp>
        <p:nvSpPr>
          <p:cNvPr id="20" name="Text 18"/>
          <p:cNvSpPr/>
          <p:nvPr/>
        </p:nvSpPr>
        <p:spPr>
          <a:xfrm>
            <a:off x="640080" y="3575304"/>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Category</a:t>
            </a:r>
            <a:endParaRPr lang="en-US" sz="1200" dirty="0"/>
          </a:p>
        </p:txBody>
      </p:sp>
      <p:sp>
        <p:nvSpPr>
          <p:cNvPr id="21" name="Text 19"/>
          <p:cNvSpPr/>
          <p:nvPr/>
        </p:nvSpPr>
        <p:spPr>
          <a:xfrm>
            <a:off x="2834640" y="3575304"/>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Video: TV</a:t>
            </a:r>
            <a:endParaRPr lang="en-US" sz="1100" dirty="0"/>
          </a:p>
        </p:txBody>
      </p:sp>
      <p:sp>
        <p:nvSpPr>
          <p:cNvPr id="22" name="Text 20"/>
          <p:cNvSpPr/>
          <p:nvPr/>
        </p:nvSpPr>
        <p:spPr>
          <a:xfrm>
            <a:off x="5577840" y="3575304"/>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Video: Movie · Video: TV · Video: Anime</a:t>
            </a:r>
            <a:endParaRPr lang="en-US" sz="1100" dirty="0"/>
          </a:p>
        </p:txBody>
      </p:sp>
      <p:sp>
        <p:nvSpPr>
          <p:cNvPr id="23" name="Text 21"/>
          <p:cNvSpPr/>
          <p:nvPr/>
        </p:nvSpPr>
        <p:spPr>
          <a:xfrm>
            <a:off x="640080" y="3968496"/>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Country</a:t>
            </a:r>
            <a:endParaRPr lang="en-US" sz="1200" dirty="0"/>
          </a:p>
        </p:txBody>
      </p:sp>
      <p:sp>
        <p:nvSpPr>
          <p:cNvPr id="24" name="Text 22"/>
          <p:cNvSpPr/>
          <p:nvPr/>
        </p:nvSpPr>
        <p:spPr>
          <a:xfrm>
            <a:off x="2834640" y="3968496"/>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RU, US, IN, BR…</a:t>
            </a:r>
            <a:endParaRPr lang="en-US" sz="1100" dirty="0"/>
          </a:p>
        </p:txBody>
      </p:sp>
      <p:sp>
        <p:nvSpPr>
          <p:cNvPr id="25" name="Text 23"/>
          <p:cNvSpPr/>
          <p:nvPr/>
        </p:nvSpPr>
        <p:spPr>
          <a:xfrm>
            <a:off x="5577840" y="3968496"/>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Country where the peer (sharer) is located</a:t>
            </a:r>
            <a:endParaRPr lang="en-US" sz="1100" dirty="0"/>
          </a:p>
        </p:txBody>
      </p:sp>
      <p:sp>
        <p:nvSpPr>
          <p:cNvPr id="26" name="Shape 24"/>
          <p:cNvSpPr/>
          <p:nvPr/>
        </p:nvSpPr>
        <p:spPr>
          <a:xfrm>
            <a:off x="457200" y="4361688"/>
            <a:ext cx="11274552" cy="393192"/>
          </a:xfrm>
          <a:prstGeom prst="rect">
            <a:avLst/>
          </a:prstGeom>
          <a:solidFill>
            <a:srgbClr val="FBF8F2"/>
          </a:solidFill>
          <a:ln w="12700">
            <a:solidFill>
              <a:srgbClr val="FBF8F2"/>
            </a:solidFill>
            <a:prstDash val="solid"/>
          </a:ln>
        </p:spPr>
        <p:txBody>
          <a:bodyPr/>
          <a:lstStyle/>
          <a:p>
            <a:endParaRPr lang="en-US"/>
          </a:p>
        </p:txBody>
      </p:sp>
      <p:sp>
        <p:nvSpPr>
          <p:cNvPr id="27" name="Text 25"/>
          <p:cNvSpPr/>
          <p:nvPr/>
        </p:nvSpPr>
        <p:spPr>
          <a:xfrm>
            <a:off x="640080" y="4361688"/>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IP Count</a:t>
            </a:r>
            <a:endParaRPr lang="en-US" sz="1200" dirty="0"/>
          </a:p>
        </p:txBody>
      </p:sp>
      <p:sp>
        <p:nvSpPr>
          <p:cNvPr id="28" name="Text 26"/>
          <p:cNvSpPr/>
          <p:nvPr/>
        </p:nvSpPr>
        <p:spPr>
          <a:xfrm>
            <a:off x="2834640" y="4361688"/>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142</a:t>
            </a:r>
            <a:endParaRPr lang="en-US" sz="1100" dirty="0"/>
          </a:p>
        </p:txBody>
      </p:sp>
      <p:sp>
        <p:nvSpPr>
          <p:cNvPr id="29" name="Text 27"/>
          <p:cNvSpPr/>
          <p:nvPr/>
        </p:nvSpPr>
        <p:spPr>
          <a:xfrm>
            <a:off x="5577840" y="4361688"/>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Distinct sharers that day — headline metric. DC_IP_COUNT = datacenter/VPN share</a:t>
            </a:r>
            <a:endParaRPr lang="en-US" sz="1100" dirty="0"/>
          </a:p>
        </p:txBody>
      </p:sp>
      <p:sp>
        <p:nvSpPr>
          <p:cNvPr id="30" name="Text 28"/>
          <p:cNvSpPr/>
          <p:nvPr/>
        </p:nvSpPr>
        <p:spPr>
          <a:xfrm>
            <a:off x="640080" y="4754880"/>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Identifiers</a:t>
            </a:r>
            <a:endParaRPr lang="en-US" sz="1200" dirty="0"/>
          </a:p>
        </p:txBody>
      </p:sp>
      <p:sp>
        <p:nvSpPr>
          <p:cNvPr id="31" name="Text 29"/>
          <p:cNvSpPr/>
          <p:nvPr/>
        </p:nvSpPr>
        <p:spPr>
          <a:xfrm>
            <a:off x="2834640" y="4754880"/>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IP_ID · IMDB_ID · ANIME_ID</a:t>
            </a:r>
            <a:endParaRPr lang="en-US" sz="1100" dirty="0"/>
          </a:p>
        </p:txBody>
      </p:sp>
      <p:sp>
        <p:nvSpPr>
          <p:cNvPr id="32" name="Text 30"/>
          <p:cNvSpPr/>
          <p:nvPr/>
        </p:nvSpPr>
        <p:spPr>
          <a:xfrm>
            <a:off x="5577840" y="4754880"/>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Stable IDs per title — IMDb for film/TV, MyAnimeList for anime</a:t>
            </a:r>
            <a:endParaRPr lang="en-US" sz="1100" dirty="0"/>
          </a:p>
        </p:txBody>
      </p:sp>
      <p:sp>
        <p:nvSpPr>
          <p:cNvPr id="33" name="Shape 31"/>
          <p:cNvSpPr/>
          <p:nvPr/>
        </p:nvSpPr>
        <p:spPr>
          <a:xfrm>
            <a:off x="457200" y="5148072"/>
            <a:ext cx="11274552" cy="393192"/>
          </a:xfrm>
          <a:prstGeom prst="rect">
            <a:avLst/>
          </a:prstGeom>
          <a:solidFill>
            <a:srgbClr val="FBF8F2"/>
          </a:solidFill>
          <a:ln w="12700">
            <a:solidFill>
              <a:srgbClr val="FBF8F2"/>
            </a:solidFill>
            <a:prstDash val="solid"/>
          </a:ln>
        </p:spPr>
        <p:txBody>
          <a:bodyPr/>
          <a:lstStyle/>
          <a:p>
            <a:endParaRPr lang="en-US"/>
          </a:p>
        </p:txBody>
      </p:sp>
      <p:sp>
        <p:nvSpPr>
          <p:cNvPr id="34" name="Text 32"/>
          <p:cNvSpPr/>
          <p:nvPr/>
        </p:nvSpPr>
        <p:spPr>
          <a:xfrm>
            <a:off x="640080" y="5148072"/>
            <a:ext cx="2194560" cy="393192"/>
          </a:xfrm>
          <a:prstGeom prst="rect">
            <a:avLst/>
          </a:prstGeom>
          <a:noFill/>
          <a:ln/>
        </p:spPr>
        <p:txBody>
          <a:bodyPr wrap="square" rtlCol="0" anchor="ctr"/>
          <a:lstStyle/>
          <a:p>
            <a:pPr marL="0" indent="0">
              <a:buNone/>
            </a:pPr>
            <a:r>
              <a:rPr lang="en-US" sz="1200" b="1" dirty="0">
                <a:solidFill>
                  <a:srgbClr val="0B1F3A"/>
                </a:solidFill>
                <a:latin typeface="Georgia" pitchFamily="34" charset="0"/>
                <a:ea typeface="Georgia" pitchFamily="34" charset="-122"/>
                <a:cs typeface="Georgia" pitchFamily="34" charset="-120"/>
              </a:rPr>
              <a:t>Velocity (companion feed)</a:t>
            </a:r>
            <a:endParaRPr lang="en-US" sz="1200" dirty="0"/>
          </a:p>
        </p:txBody>
      </p:sp>
      <p:sp>
        <p:nvSpPr>
          <p:cNvPr id="35" name="Text 33"/>
          <p:cNvSpPr/>
          <p:nvPr/>
        </p:nvSpPr>
        <p:spPr>
          <a:xfrm>
            <a:off x="2834640" y="5148072"/>
            <a:ext cx="2743200" cy="393192"/>
          </a:xfrm>
          <a:prstGeom prst="rect">
            <a:avLst/>
          </a:prstGeom>
          <a:noFill/>
          <a:ln/>
        </p:spPr>
        <p:txBody>
          <a:bodyPr wrap="square" rtlCol="0" anchor="ctr"/>
          <a:lstStyle/>
          <a:p>
            <a:pPr marL="0" indent="0">
              <a:buNone/>
            </a:pPr>
            <a:r>
              <a:rPr lang="en-US" sz="1100" dirty="0">
                <a:solidFill>
                  <a:srgbClr val="9A5825"/>
                </a:solidFill>
                <a:latin typeface="Consolas" pitchFamily="34" charset="0"/>
                <a:ea typeface="Consolas" pitchFamily="34" charset="-122"/>
                <a:cs typeface="Consolas" pitchFamily="34" charset="-120"/>
              </a:rPr>
              <a:t>+17,475 · +31%</a:t>
            </a:r>
            <a:endParaRPr lang="en-US" sz="1100" dirty="0"/>
          </a:p>
        </p:txBody>
      </p:sp>
      <p:sp>
        <p:nvSpPr>
          <p:cNvPr id="36" name="Text 34"/>
          <p:cNvSpPr/>
          <p:nvPr/>
        </p:nvSpPr>
        <p:spPr>
          <a:xfrm>
            <a:off x="5577840" y="5148072"/>
            <a:ext cx="5760720" cy="39319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Day-over-day growth &amp; new-release flag — own file: daily/velocity/</a:t>
            </a:r>
            <a:endParaRPr lang="en-US" sz="1100" dirty="0"/>
          </a:p>
        </p:txBody>
      </p:sp>
      <p:sp>
        <p:nvSpPr>
          <p:cNvPr id="37" name="Shape 35"/>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38" name="Text 36"/>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39" name="Text 37"/>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40" name="Text 38"/>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06</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WHEN EACH STAGE RUNS (UTC)</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Daily Operating Schedule</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Text 5"/>
          <p:cNvSpPr/>
          <p:nvPr/>
        </p:nvSpPr>
        <p:spPr>
          <a:xfrm>
            <a:off x="457200" y="1691640"/>
            <a:ext cx="11274552" cy="457200"/>
          </a:xfrm>
          <a:prstGeom prst="rect">
            <a:avLst/>
          </a:prstGeom>
          <a:noFill/>
          <a:ln/>
        </p:spPr>
        <p:txBody>
          <a:bodyPr wrap="square" rtlCol="0" anchor="ctr"/>
          <a:lstStyle/>
          <a:p>
            <a:pPr marL="0" indent="0">
              <a:buNone/>
            </a:pPr>
            <a:r>
              <a:rPr lang="en-US" sz="1300" i="1" dirty="0">
                <a:solidFill>
                  <a:srgbClr val="5A5A5A"/>
                </a:solidFill>
                <a:latin typeface="Calibri" pitchFamily="34" charset="0"/>
                <a:ea typeface="Calibri" pitchFamily="34" charset="-122"/>
                <a:cs typeface="Calibri" pitchFamily="34" charset="-120"/>
              </a:rPr>
              <a:t>Everything runs automatically on a fixed schedule. No human intervention is required for day-to-day operation.</a:t>
            </a:r>
            <a:endParaRPr lang="en-US" sz="1300" dirty="0"/>
          </a:p>
        </p:txBody>
      </p:sp>
      <p:sp>
        <p:nvSpPr>
          <p:cNvPr id="8" name="Shape 6"/>
          <p:cNvSpPr/>
          <p:nvPr/>
        </p:nvSpPr>
        <p:spPr>
          <a:xfrm>
            <a:off x="457200" y="2331720"/>
            <a:ext cx="11274552" cy="365760"/>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640080" y="2331720"/>
            <a:ext cx="146304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TIME (UTC)</a:t>
            </a:r>
            <a:endParaRPr lang="en-US" sz="1000" dirty="0"/>
          </a:p>
        </p:txBody>
      </p:sp>
      <p:sp>
        <p:nvSpPr>
          <p:cNvPr id="10" name="Text 8"/>
          <p:cNvSpPr/>
          <p:nvPr/>
        </p:nvSpPr>
        <p:spPr>
          <a:xfrm>
            <a:off x="2103120" y="2331720"/>
            <a:ext cx="9235440" cy="36576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WHAT HAPPENS</a:t>
            </a:r>
            <a:endParaRPr lang="en-US" sz="1000" dirty="0"/>
          </a:p>
        </p:txBody>
      </p:sp>
      <p:sp>
        <p:nvSpPr>
          <p:cNvPr id="11" name="Shape 9"/>
          <p:cNvSpPr/>
          <p:nvPr/>
        </p:nvSpPr>
        <p:spPr>
          <a:xfrm>
            <a:off x="457200" y="2697480"/>
            <a:ext cx="11274552" cy="320040"/>
          </a:xfrm>
          <a:prstGeom prst="rect">
            <a:avLst/>
          </a:prstGeom>
          <a:solidFill>
            <a:srgbClr val="FBF8F2"/>
          </a:solidFill>
          <a:ln w="12700">
            <a:solidFill>
              <a:srgbClr val="FBF8F2"/>
            </a:solidFill>
            <a:prstDash val="solid"/>
          </a:ln>
        </p:spPr>
        <p:txBody>
          <a:bodyPr/>
          <a:lstStyle/>
          <a:p>
            <a:endParaRPr lang="en-US"/>
          </a:p>
        </p:txBody>
      </p:sp>
      <p:sp>
        <p:nvSpPr>
          <p:cNvPr id="12" name="Text 10"/>
          <p:cNvSpPr/>
          <p:nvPr/>
        </p:nvSpPr>
        <p:spPr>
          <a:xfrm>
            <a:off x="640080" y="269748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12:10 AM</a:t>
            </a:r>
            <a:endParaRPr lang="en-US" sz="1100" dirty="0"/>
          </a:p>
        </p:txBody>
      </p:sp>
      <p:sp>
        <p:nvSpPr>
          <p:cNvPr id="13" name="Text 11"/>
          <p:cNvSpPr/>
          <p:nvPr/>
        </p:nvSpPr>
        <p:spPr>
          <a:xfrm>
            <a:off x="2103120" y="269748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Scrape piracy sites for new hashes (TPB, EZTV, Nyaa, YTS)</a:t>
            </a:r>
            <a:endParaRPr lang="en-US" sz="1100" dirty="0"/>
          </a:p>
        </p:txBody>
      </p:sp>
      <p:sp>
        <p:nvSpPr>
          <p:cNvPr id="14" name="Text 12"/>
          <p:cNvSpPr/>
          <p:nvPr/>
        </p:nvSpPr>
        <p:spPr>
          <a:xfrm>
            <a:off x="640080" y="301752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1:00 AM</a:t>
            </a:r>
            <a:endParaRPr lang="en-US" sz="1100" dirty="0"/>
          </a:p>
        </p:txBody>
      </p:sp>
      <p:sp>
        <p:nvSpPr>
          <p:cNvPr id="15" name="Text 13"/>
          <p:cNvSpPr/>
          <p:nvPr/>
        </p:nvSpPr>
        <p:spPr>
          <a:xfrm>
            <a:off x="2103120" y="301752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First trending collection run of the day</a:t>
            </a:r>
            <a:endParaRPr lang="en-US" sz="1100" dirty="0"/>
          </a:p>
        </p:txBody>
      </p:sp>
      <p:sp>
        <p:nvSpPr>
          <p:cNvPr id="16" name="Shape 14"/>
          <p:cNvSpPr/>
          <p:nvPr/>
        </p:nvSpPr>
        <p:spPr>
          <a:xfrm>
            <a:off x="457200" y="3337560"/>
            <a:ext cx="11274552" cy="320040"/>
          </a:xfrm>
          <a:prstGeom prst="rect">
            <a:avLst/>
          </a:prstGeom>
          <a:solidFill>
            <a:srgbClr val="FBF8F2"/>
          </a:solidFill>
          <a:ln w="12700">
            <a:solidFill>
              <a:srgbClr val="FBF8F2"/>
            </a:solidFill>
            <a:prstDash val="solid"/>
          </a:ln>
        </p:spPr>
        <p:txBody>
          <a:bodyPr/>
          <a:lstStyle/>
          <a:p>
            <a:endParaRPr lang="en-US"/>
          </a:p>
        </p:txBody>
      </p:sp>
      <p:sp>
        <p:nvSpPr>
          <p:cNvPr id="17" name="Text 15"/>
          <p:cNvSpPr/>
          <p:nvPr/>
        </p:nvSpPr>
        <p:spPr>
          <a:xfrm>
            <a:off x="640080" y="333756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2:00 AM</a:t>
            </a:r>
            <a:endParaRPr lang="en-US" sz="1100" dirty="0"/>
          </a:p>
        </p:txBody>
      </p:sp>
      <p:sp>
        <p:nvSpPr>
          <p:cNvPr id="18" name="Text 16"/>
          <p:cNvSpPr/>
          <p:nvPr/>
        </p:nvSpPr>
        <p:spPr>
          <a:xfrm>
            <a:off x="2103120" y="333756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Enrich new hashes (TMDB + MyAnimeList) via collect.py</a:t>
            </a:r>
            <a:endParaRPr lang="en-US" sz="1100" dirty="0"/>
          </a:p>
        </p:txBody>
      </p:sp>
      <p:sp>
        <p:nvSpPr>
          <p:cNvPr id="19" name="Text 17"/>
          <p:cNvSpPr/>
          <p:nvPr/>
        </p:nvSpPr>
        <p:spPr>
          <a:xfrm>
            <a:off x="640080" y="365760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2:30 AM</a:t>
            </a:r>
            <a:endParaRPr lang="en-US" sz="1100" dirty="0"/>
          </a:p>
        </p:txBody>
      </p:sp>
      <p:sp>
        <p:nvSpPr>
          <p:cNvPr id="20" name="Text 18"/>
          <p:cNvSpPr/>
          <p:nvPr/>
        </p:nvSpPr>
        <p:spPr>
          <a:xfrm>
            <a:off x="2103120" y="365760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DHT crawl for newly discovered content (BEP-51)</a:t>
            </a:r>
            <a:endParaRPr lang="en-US" sz="1100" dirty="0"/>
          </a:p>
        </p:txBody>
      </p:sp>
      <p:sp>
        <p:nvSpPr>
          <p:cNvPr id="21" name="Shape 19"/>
          <p:cNvSpPr/>
          <p:nvPr/>
        </p:nvSpPr>
        <p:spPr>
          <a:xfrm>
            <a:off x="457200" y="3977640"/>
            <a:ext cx="11274552" cy="320040"/>
          </a:xfrm>
          <a:prstGeom prst="rect">
            <a:avLst/>
          </a:prstGeom>
          <a:solidFill>
            <a:srgbClr val="FBF8F2"/>
          </a:solidFill>
          <a:ln w="12700">
            <a:solidFill>
              <a:srgbClr val="FBF8F2"/>
            </a:solidFill>
            <a:prstDash val="solid"/>
          </a:ln>
        </p:spPr>
        <p:txBody>
          <a:bodyPr/>
          <a:lstStyle/>
          <a:p>
            <a:endParaRPr lang="en-US"/>
          </a:p>
        </p:txBody>
      </p:sp>
      <p:sp>
        <p:nvSpPr>
          <p:cNvPr id="22" name="Text 20"/>
          <p:cNvSpPr/>
          <p:nvPr/>
        </p:nvSpPr>
        <p:spPr>
          <a:xfrm>
            <a:off x="640080" y="397764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3:00 AM</a:t>
            </a:r>
            <a:endParaRPr lang="en-US" sz="1100" dirty="0"/>
          </a:p>
        </p:txBody>
      </p:sp>
      <p:sp>
        <p:nvSpPr>
          <p:cNvPr id="23" name="Text 21"/>
          <p:cNvSpPr/>
          <p:nvPr/>
        </p:nvSpPr>
        <p:spPr>
          <a:xfrm>
            <a:off x="2103120" y="397764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Data backed up and synced to S3 cloud storage</a:t>
            </a:r>
            <a:endParaRPr lang="en-US" sz="1100" dirty="0"/>
          </a:p>
        </p:txBody>
      </p:sp>
      <p:sp>
        <p:nvSpPr>
          <p:cNvPr id="24" name="Text 22"/>
          <p:cNvSpPr/>
          <p:nvPr/>
        </p:nvSpPr>
        <p:spPr>
          <a:xfrm>
            <a:off x="640080" y="429768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4:20 AM</a:t>
            </a:r>
            <a:endParaRPr lang="en-US" sz="1100" dirty="0"/>
          </a:p>
        </p:txBody>
      </p:sp>
      <p:sp>
        <p:nvSpPr>
          <p:cNvPr id="25" name="Text 23"/>
          <p:cNvSpPr/>
          <p:nvPr/>
        </p:nvSpPr>
        <p:spPr>
          <a:xfrm>
            <a:off x="2103120" y="429768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DB housekeeping — WAL reclaim (wal_maintenance.sh)</a:t>
            </a:r>
            <a:endParaRPr lang="en-US" sz="1100" dirty="0"/>
          </a:p>
        </p:txBody>
      </p:sp>
      <p:sp>
        <p:nvSpPr>
          <p:cNvPr id="26" name="Shape 24"/>
          <p:cNvSpPr/>
          <p:nvPr/>
        </p:nvSpPr>
        <p:spPr>
          <a:xfrm>
            <a:off x="457200" y="4617720"/>
            <a:ext cx="11274552" cy="320040"/>
          </a:xfrm>
          <a:prstGeom prst="rect">
            <a:avLst/>
          </a:prstGeom>
          <a:solidFill>
            <a:srgbClr val="FBF8F2"/>
          </a:solidFill>
          <a:ln w="12700">
            <a:solidFill>
              <a:srgbClr val="FBF8F2"/>
            </a:solidFill>
            <a:prstDash val="solid"/>
          </a:ln>
        </p:spPr>
        <p:txBody>
          <a:bodyPr/>
          <a:lstStyle/>
          <a:p>
            <a:endParaRPr lang="en-US"/>
          </a:p>
        </p:txBody>
      </p:sp>
      <p:sp>
        <p:nvSpPr>
          <p:cNvPr id="27" name="Text 25"/>
          <p:cNvSpPr/>
          <p:nvPr/>
        </p:nvSpPr>
        <p:spPr>
          <a:xfrm>
            <a:off x="640080" y="461772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5:00 AM</a:t>
            </a:r>
            <a:endParaRPr lang="en-US" sz="1100" dirty="0"/>
          </a:p>
        </p:txBody>
      </p:sp>
      <p:sp>
        <p:nvSpPr>
          <p:cNvPr id="28" name="Text 26"/>
          <p:cNvSpPr/>
          <p:nvPr/>
        </p:nvSpPr>
        <p:spPr>
          <a:xfrm>
            <a:off x="2103120" y="461772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Legacy dashboard feed compiled &amp; uploaded to S3</a:t>
            </a:r>
            <a:endParaRPr lang="en-US" sz="1100" dirty="0"/>
          </a:p>
        </p:txBody>
      </p:sp>
      <p:sp>
        <p:nvSpPr>
          <p:cNvPr id="29" name="Text 27"/>
          <p:cNvSpPr/>
          <p:nvPr/>
        </p:nvSpPr>
        <p:spPr>
          <a:xfrm>
            <a:off x="640080" y="493776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6:00 AM</a:t>
            </a:r>
            <a:endParaRPr lang="en-US" sz="1100" dirty="0"/>
          </a:p>
        </p:txBody>
      </p:sp>
      <p:sp>
        <p:nvSpPr>
          <p:cNvPr id="30" name="Text 28"/>
          <p:cNvSpPr/>
          <p:nvPr/>
        </p:nvSpPr>
        <p:spPr>
          <a:xfrm>
            <a:off x="2103120" y="493776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TMDB trending titles collected</a:t>
            </a:r>
            <a:endParaRPr lang="en-US" sz="1100" dirty="0"/>
          </a:p>
        </p:txBody>
      </p:sp>
      <p:sp>
        <p:nvSpPr>
          <p:cNvPr id="31" name="Shape 29"/>
          <p:cNvSpPr/>
          <p:nvPr/>
        </p:nvSpPr>
        <p:spPr>
          <a:xfrm>
            <a:off x="457200" y="5257800"/>
            <a:ext cx="11274552" cy="320040"/>
          </a:xfrm>
          <a:prstGeom prst="rect">
            <a:avLst/>
          </a:prstGeom>
          <a:solidFill>
            <a:srgbClr val="FBF8F2"/>
          </a:solidFill>
          <a:ln w="12700">
            <a:solidFill>
              <a:srgbClr val="FBF8F2"/>
            </a:solidFill>
            <a:prstDash val="solid"/>
          </a:ln>
        </p:spPr>
        <p:txBody>
          <a:bodyPr/>
          <a:lstStyle/>
          <a:p>
            <a:endParaRPr lang="en-US"/>
          </a:p>
        </p:txBody>
      </p:sp>
      <p:sp>
        <p:nvSpPr>
          <p:cNvPr id="32" name="Text 30"/>
          <p:cNvSpPr/>
          <p:nvPr/>
        </p:nvSpPr>
        <p:spPr>
          <a:xfrm>
            <a:off x="640080" y="525780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10:00 AM</a:t>
            </a:r>
            <a:endParaRPr lang="en-US" sz="1100" dirty="0"/>
          </a:p>
        </p:txBody>
      </p:sp>
      <p:sp>
        <p:nvSpPr>
          <p:cNvPr id="33" name="Text 31"/>
          <p:cNvSpPr/>
          <p:nvPr/>
        </p:nvSpPr>
        <p:spPr>
          <a:xfrm>
            <a:off x="2103120" y="525780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Second trending collection run</a:t>
            </a:r>
            <a:endParaRPr lang="en-US" sz="1100" dirty="0"/>
          </a:p>
        </p:txBody>
      </p:sp>
      <p:sp>
        <p:nvSpPr>
          <p:cNvPr id="34" name="Text 32"/>
          <p:cNvSpPr/>
          <p:nvPr/>
        </p:nvSpPr>
        <p:spPr>
          <a:xfrm>
            <a:off x="640080" y="557784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6:00 PM</a:t>
            </a:r>
            <a:endParaRPr lang="en-US" sz="1100" dirty="0"/>
          </a:p>
        </p:txBody>
      </p:sp>
      <p:sp>
        <p:nvSpPr>
          <p:cNvPr id="35" name="Text 33"/>
          <p:cNvSpPr/>
          <p:nvPr/>
        </p:nvSpPr>
        <p:spPr>
          <a:xfrm>
            <a:off x="2103120" y="557784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Third trending collection run</a:t>
            </a:r>
            <a:endParaRPr lang="en-US" sz="1100" dirty="0"/>
          </a:p>
        </p:txBody>
      </p:sp>
      <p:sp>
        <p:nvSpPr>
          <p:cNvPr id="36" name="Shape 34"/>
          <p:cNvSpPr/>
          <p:nvPr/>
        </p:nvSpPr>
        <p:spPr>
          <a:xfrm>
            <a:off x="457200" y="5897880"/>
            <a:ext cx="11274552" cy="320040"/>
          </a:xfrm>
          <a:prstGeom prst="rect">
            <a:avLst/>
          </a:prstGeom>
          <a:solidFill>
            <a:srgbClr val="FBF8F2"/>
          </a:solidFill>
          <a:ln w="12700">
            <a:solidFill>
              <a:srgbClr val="FBF8F2"/>
            </a:solidFill>
            <a:prstDash val="solid"/>
          </a:ln>
        </p:spPr>
        <p:txBody>
          <a:bodyPr/>
          <a:lstStyle/>
          <a:p>
            <a:endParaRPr lang="en-US"/>
          </a:p>
        </p:txBody>
      </p:sp>
      <p:sp>
        <p:nvSpPr>
          <p:cNvPr id="37" name="Text 35"/>
          <p:cNvSpPr/>
          <p:nvPr/>
        </p:nvSpPr>
        <p:spPr>
          <a:xfrm>
            <a:off x="640080" y="5897880"/>
            <a:ext cx="1463040" cy="320040"/>
          </a:xfrm>
          <a:prstGeom prst="rect">
            <a:avLst/>
          </a:prstGeom>
          <a:noFill/>
          <a:ln/>
        </p:spPr>
        <p:txBody>
          <a:bodyPr wrap="square" rtlCol="0" anchor="ctr"/>
          <a:lstStyle/>
          <a:p>
            <a:pPr marL="0" indent="0">
              <a:buNone/>
            </a:pPr>
            <a:r>
              <a:rPr lang="en-US" sz="1100" b="1" dirty="0">
                <a:solidFill>
                  <a:srgbClr val="9A5825"/>
                </a:solidFill>
                <a:latin typeface="Consolas" pitchFamily="34" charset="0"/>
                <a:ea typeface="Consolas" pitchFamily="34" charset="-122"/>
                <a:cs typeface="Consolas" pitchFamily="34" charset="-120"/>
              </a:rPr>
              <a:t>All day</a:t>
            </a:r>
            <a:endParaRPr lang="en-US" sz="1100" dirty="0"/>
          </a:p>
        </p:txBody>
      </p:sp>
      <p:sp>
        <p:nvSpPr>
          <p:cNvPr id="38" name="Text 36"/>
          <p:cNvSpPr/>
          <p:nvPr/>
        </p:nvSpPr>
        <p:spPr>
          <a:xfrm>
            <a:off x="2103120" y="5897880"/>
            <a:ext cx="9235440" cy="3200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DHT counter + harvester run all day; 11:55 PM nightly export to S3</a:t>
            </a:r>
            <a:endParaRPr lang="en-US" sz="1100" dirty="0"/>
          </a:p>
        </p:txBody>
      </p:sp>
      <p:sp>
        <p:nvSpPr>
          <p:cNvPr id="39" name="Shape 37"/>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40" name="Text 38"/>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41" name="Text 39"/>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42" name="Text 40"/>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09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07</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DAILY DATA FILE — SAMPLE ROWS</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What the Output Looks Like</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Shape 5"/>
          <p:cNvSpPr/>
          <p:nvPr/>
        </p:nvSpPr>
        <p:spPr>
          <a:xfrm>
            <a:off x="457200" y="1691640"/>
            <a:ext cx="8503920" cy="320040"/>
          </a:xfrm>
          <a:prstGeom prst="rect">
            <a:avLst/>
          </a:prstGeom>
          <a:solidFill>
            <a:srgbClr val="0B1F3A"/>
          </a:solidFill>
          <a:ln w="12700">
            <a:solidFill>
              <a:srgbClr val="0B1F3A"/>
            </a:solidFill>
            <a:prstDash val="solid"/>
          </a:ln>
        </p:spPr>
        <p:txBody>
          <a:bodyPr/>
          <a:lstStyle/>
          <a:p>
            <a:endParaRPr lang="en-US"/>
          </a:p>
        </p:txBody>
      </p:sp>
      <p:sp>
        <p:nvSpPr>
          <p:cNvPr id="8" name="Text 6"/>
          <p:cNvSpPr/>
          <p:nvPr/>
        </p:nvSpPr>
        <p:spPr>
          <a:xfrm>
            <a:off x="548640" y="1691640"/>
            <a:ext cx="1097280" cy="320040"/>
          </a:xfrm>
          <a:prstGeom prst="rect">
            <a:avLst/>
          </a:prstGeom>
          <a:noFill/>
          <a:ln/>
        </p:spPr>
        <p:txBody>
          <a:bodyPr wrap="square"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DATE</a:t>
            </a:r>
            <a:endParaRPr lang="en-US" sz="900" dirty="0"/>
          </a:p>
        </p:txBody>
      </p:sp>
      <p:sp>
        <p:nvSpPr>
          <p:cNvPr id="9" name="Text 7"/>
          <p:cNvSpPr/>
          <p:nvPr/>
        </p:nvSpPr>
        <p:spPr>
          <a:xfrm>
            <a:off x="1645920" y="1691640"/>
            <a:ext cx="3017520" cy="320040"/>
          </a:xfrm>
          <a:prstGeom prst="rect">
            <a:avLst/>
          </a:prstGeom>
          <a:noFill/>
          <a:ln/>
        </p:spPr>
        <p:txBody>
          <a:bodyPr wrap="square"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TITLE</a:t>
            </a:r>
            <a:endParaRPr lang="en-US" sz="900" dirty="0"/>
          </a:p>
        </p:txBody>
      </p:sp>
      <p:sp>
        <p:nvSpPr>
          <p:cNvPr id="10" name="Text 8"/>
          <p:cNvSpPr/>
          <p:nvPr/>
        </p:nvSpPr>
        <p:spPr>
          <a:xfrm>
            <a:off x="4663440" y="1691640"/>
            <a:ext cx="1005840" cy="320040"/>
          </a:xfrm>
          <a:prstGeom prst="rect">
            <a:avLst/>
          </a:prstGeom>
          <a:noFill/>
          <a:ln/>
        </p:spPr>
        <p:txBody>
          <a:bodyPr wrap="square"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CATEGORY</a:t>
            </a:r>
            <a:endParaRPr lang="en-US" sz="900" dirty="0"/>
          </a:p>
        </p:txBody>
      </p:sp>
      <p:sp>
        <p:nvSpPr>
          <p:cNvPr id="11" name="Text 9"/>
          <p:cNvSpPr/>
          <p:nvPr/>
        </p:nvSpPr>
        <p:spPr>
          <a:xfrm>
            <a:off x="5669280" y="1691640"/>
            <a:ext cx="1188720" cy="320040"/>
          </a:xfrm>
          <a:prstGeom prst="rect">
            <a:avLst/>
          </a:prstGeom>
          <a:noFill/>
          <a:ln/>
        </p:spPr>
        <p:txBody>
          <a:bodyPr wrap="square"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COUNTRY</a:t>
            </a:r>
            <a:endParaRPr lang="en-US" sz="900" dirty="0"/>
          </a:p>
        </p:txBody>
      </p:sp>
      <p:sp>
        <p:nvSpPr>
          <p:cNvPr id="12" name="Text 10"/>
          <p:cNvSpPr/>
          <p:nvPr/>
        </p:nvSpPr>
        <p:spPr>
          <a:xfrm>
            <a:off x="6858000" y="1691640"/>
            <a:ext cx="731520" cy="320040"/>
          </a:xfrm>
          <a:prstGeom prst="rect">
            <a:avLst/>
          </a:prstGeom>
          <a:noFill/>
          <a:ln/>
        </p:spPr>
        <p:txBody>
          <a:bodyPr wrap="square"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IPS</a:t>
            </a:r>
            <a:endParaRPr lang="en-US" sz="900" dirty="0"/>
          </a:p>
        </p:txBody>
      </p:sp>
      <p:sp>
        <p:nvSpPr>
          <p:cNvPr id="13" name="Text 11"/>
          <p:cNvSpPr/>
          <p:nvPr/>
        </p:nvSpPr>
        <p:spPr>
          <a:xfrm>
            <a:off x="7589520" y="1691640"/>
            <a:ext cx="1463040" cy="320040"/>
          </a:xfrm>
          <a:prstGeom prst="rect">
            <a:avLst/>
          </a:prstGeom>
          <a:noFill/>
          <a:ln/>
        </p:spPr>
        <p:txBody>
          <a:bodyPr wrap="square"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vs YDAY</a:t>
            </a:r>
            <a:endParaRPr lang="en-US" sz="900" dirty="0"/>
          </a:p>
        </p:txBody>
      </p:sp>
      <p:sp>
        <p:nvSpPr>
          <p:cNvPr id="14" name="Shape 12"/>
          <p:cNvSpPr/>
          <p:nvPr/>
        </p:nvSpPr>
        <p:spPr>
          <a:xfrm>
            <a:off x="457200" y="2011680"/>
            <a:ext cx="8503920" cy="347472"/>
          </a:xfrm>
          <a:prstGeom prst="rect">
            <a:avLst/>
          </a:prstGeom>
          <a:solidFill>
            <a:srgbClr val="FBF8F2"/>
          </a:solidFill>
          <a:ln w="12700">
            <a:solidFill>
              <a:srgbClr val="FBF8F2"/>
            </a:solidFill>
            <a:prstDash val="solid"/>
          </a:ln>
        </p:spPr>
        <p:txBody>
          <a:bodyPr/>
          <a:lstStyle/>
          <a:p>
            <a:endParaRPr lang="en-US"/>
          </a:p>
        </p:txBody>
      </p:sp>
      <p:sp>
        <p:nvSpPr>
          <p:cNvPr id="15" name="Text 13"/>
          <p:cNvSpPr/>
          <p:nvPr/>
        </p:nvSpPr>
        <p:spPr>
          <a:xfrm>
            <a:off x="548640" y="2011680"/>
            <a:ext cx="109728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2026-05-26</a:t>
            </a:r>
            <a:endParaRPr lang="en-US" sz="1100" dirty="0"/>
          </a:p>
        </p:txBody>
      </p:sp>
      <p:sp>
        <p:nvSpPr>
          <p:cNvPr id="16" name="Text 14"/>
          <p:cNvSpPr/>
          <p:nvPr/>
        </p:nvSpPr>
        <p:spPr>
          <a:xfrm>
            <a:off x="1645920" y="2011680"/>
            <a:ext cx="30175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The Grand Tour S05E01</a:t>
            </a:r>
            <a:endParaRPr lang="en-US" sz="1100" dirty="0"/>
          </a:p>
        </p:txBody>
      </p:sp>
      <p:sp>
        <p:nvSpPr>
          <p:cNvPr id="17" name="Text 15"/>
          <p:cNvSpPr/>
          <p:nvPr/>
        </p:nvSpPr>
        <p:spPr>
          <a:xfrm>
            <a:off x="4663440" y="2011680"/>
            <a:ext cx="10058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Series</a:t>
            </a:r>
            <a:endParaRPr lang="en-US" sz="1100" dirty="0"/>
          </a:p>
        </p:txBody>
      </p:sp>
      <p:sp>
        <p:nvSpPr>
          <p:cNvPr id="18" name="Text 16"/>
          <p:cNvSpPr/>
          <p:nvPr/>
        </p:nvSpPr>
        <p:spPr>
          <a:xfrm>
            <a:off x="5669280" y="2011680"/>
            <a:ext cx="11887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RU</a:t>
            </a:r>
            <a:endParaRPr lang="en-US" sz="1100" dirty="0"/>
          </a:p>
        </p:txBody>
      </p:sp>
      <p:sp>
        <p:nvSpPr>
          <p:cNvPr id="19" name="Text 17"/>
          <p:cNvSpPr/>
          <p:nvPr/>
        </p:nvSpPr>
        <p:spPr>
          <a:xfrm>
            <a:off x="6858000" y="2011680"/>
            <a:ext cx="73152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142</a:t>
            </a:r>
            <a:endParaRPr lang="en-US" sz="1100" dirty="0"/>
          </a:p>
        </p:txBody>
      </p:sp>
      <p:sp>
        <p:nvSpPr>
          <p:cNvPr id="20" name="Text 18"/>
          <p:cNvSpPr/>
          <p:nvPr/>
        </p:nvSpPr>
        <p:spPr>
          <a:xfrm>
            <a:off x="7589520" y="2011680"/>
            <a:ext cx="1463040" cy="347472"/>
          </a:xfrm>
          <a:prstGeom prst="rect">
            <a:avLst/>
          </a:prstGeom>
          <a:noFill/>
          <a:ln/>
        </p:spPr>
        <p:txBody>
          <a:bodyPr wrap="square" rtlCol="0" anchor="ctr"/>
          <a:lstStyle/>
          <a:p>
            <a:pPr marL="0" indent="0">
              <a:buNone/>
            </a:pPr>
            <a:r>
              <a:rPr lang="en-US" sz="1100" b="1" dirty="0">
                <a:solidFill>
                  <a:srgbClr val="2C6E3B"/>
                </a:solidFill>
                <a:latin typeface="Consolas" pitchFamily="34" charset="0"/>
                <a:ea typeface="Consolas" pitchFamily="34" charset="-122"/>
                <a:cs typeface="Consolas" pitchFamily="34" charset="-120"/>
              </a:rPr>
              <a:t>+38</a:t>
            </a:r>
            <a:endParaRPr lang="en-US" sz="1100" dirty="0"/>
          </a:p>
        </p:txBody>
      </p:sp>
      <p:sp>
        <p:nvSpPr>
          <p:cNvPr id="21" name="Text 19"/>
          <p:cNvSpPr/>
          <p:nvPr/>
        </p:nvSpPr>
        <p:spPr>
          <a:xfrm>
            <a:off x="548640" y="2359152"/>
            <a:ext cx="109728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2026-05-26</a:t>
            </a:r>
            <a:endParaRPr lang="en-US" sz="1100" dirty="0"/>
          </a:p>
        </p:txBody>
      </p:sp>
      <p:sp>
        <p:nvSpPr>
          <p:cNvPr id="22" name="Text 20"/>
          <p:cNvSpPr/>
          <p:nvPr/>
        </p:nvSpPr>
        <p:spPr>
          <a:xfrm>
            <a:off x="1645920" y="2359152"/>
            <a:ext cx="30175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The Grand Tour S05E01</a:t>
            </a:r>
            <a:endParaRPr lang="en-US" sz="1100" dirty="0"/>
          </a:p>
        </p:txBody>
      </p:sp>
      <p:sp>
        <p:nvSpPr>
          <p:cNvPr id="23" name="Text 21"/>
          <p:cNvSpPr/>
          <p:nvPr/>
        </p:nvSpPr>
        <p:spPr>
          <a:xfrm>
            <a:off x="4663440" y="2359152"/>
            <a:ext cx="10058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Series</a:t>
            </a:r>
            <a:endParaRPr lang="en-US" sz="1100" dirty="0"/>
          </a:p>
        </p:txBody>
      </p:sp>
      <p:sp>
        <p:nvSpPr>
          <p:cNvPr id="24" name="Text 22"/>
          <p:cNvSpPr/>
          <p:nvPr/>
        </p:nvSpPr>
        <p:spPr>
          <a:xfrm>
            <a:off x="5669280" y="2359152"/>
            <a:ext cx="11887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a:t>
            </a:r>
            <a:endParaRPr lang="en-US" sz="1100" dirty="0"/>
          </a:p>
        </p:txBody>
      </p:sp>
      <p:sp>
        <p:nvSpPr>
          <p:cNvPr id="25" name="Text 23"/>
          <p:cNvSpPr/>
          <p:nvPr/>
        </p:nvSpPr>
        <p:spPr>
          <a:xfrm>
            <a:off x="6858000" y="2359152"/>
            <a:ext cx="73152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89</a:t>
            </a:r>
            <a:endParaRPr lang="en-US" sz="1100" dirty="0"/>
          </a:p>
        </p:txBody>
      </p:sp>
      <p:sp>
        <p:nvSpPr>
          <p:cNvPr id="26" name="Text 24"/>
          <p:cNvSpPr/>
          <p:nvPr/>
        </p:nvSpPr>
        <p:spPr>
          <a:xfrm>
            <a:off x="7589520" y="2359152"/>
            <a:ext cx="1463040" cy="347472"/>
          </a:xfrm>
          <a:prstGeom prst="rect">
            <a:avLst/>
          </a:prstGeom>
          <a:noFill/>
          <a:ln/>
        </p:spPr>
        <p:txBody>
          <a:bodyPr wrap="square" rtlCol="0" anchor="ctr"/>
          <a:lstStyle/>
          <a:p>
            <a:pPr marL="0" indent="0">
              <a:buNone/>
            </a:pPr>
            <a:r>
              <a:rPr lang="en-US" sz="1100" b="1" dirty="0">
                <a:solidFill>
                  <a:srgbClr val="2C6E3B"/>
                </a:solidFill>
                <a:latin typeface="Consolas" pitchFamily="34" charset="0"/>
                <a:ea typeface="Consolas" pitchFamily="34" charset="-122"/>
                <a:cs typeface="Consolas" pitchFamily="34" charset="-120"/>
              </a:rPr>
              <a:t>+12</a:t>
            </a:r>
            <a:endParaRPr lang="en-US" sz="1100" dirty="0"/>
          </a:p>
        </p:txBody>
      </p:sp>
      <p:sp>
        <p:nvSpPr>
          <p:cNvPr id="27" name="Shape 25"/>
          <p:cNvSpPr/>
          <p:nvPr/>
        </p:nvSpPr>
        <p:spPr>
          <a:xfrm>
            <a:off x="457200" y="2706624"/>
            <a:ext cx="8503920" cy="347472"/>
          </a:xfrm>
          <a:prstGeom prst="rect">
            <a:avLst/>
          </a:prstGeom>
          <a:solidFill>
            <a:srgbClr val="FBF8F2"/>
          </a:solidFill>
          <a:ln w="12700">
            <a:solidFill>
              <a:srgbClr val="FBF8F2"/>
            </a:solidFill>
            <a:prstDash val="solid"/>
          </a:ln>
        </p:spPr>
        <p:txBody>
          <a:bodyPr/>
          <a:lstStyle/>
          <a:p>
            <a:endParaRPr lang="en-US"/>
          </a:p>
        </p:txBody>
      </p:sp>
      <p:sp>
        <p:nvSpPr>
          <p:cNvPr id="28" name="Text 26"/>
          <p:cNvSpPr/>
          <p:nvPr/>
        </p:nvSpPr>
        <p:spPr>
          <a:xfrm>
            <a:off x="548640" y="2706624"/>
            <a:ext cx="109728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2026-05-26</a:t>
            </a:r>
            <a:endParaRPr lang="en-US" sz="1100" dirty="0"/>
          </a:p>
        </p:txBody>
      </p:sp>
      <p:sp>
        <p:nvSpPr>
          <p:cNvPr id="29" name="Text 27"/>
          <p:cNvSpPr/>
          <p:nvPr/>
        </p:nvSpPr>
        <p:spPr>
          <a:xfrm>
            <a:off x="1645920" y="2706624"/>
            <a:ext cx="30175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Married… with Children S01</a:t>
            </a:r>
            <a:endParaRPr lang="en-US" sz="1100" dirty="0"/>
          </a:p>
        </p:txBody>
      </p:sp>
      <p:sp>
        <p:nvSpPr>
          <p:cNvPr id="30" name="Text 28"/>
          <p:cNvSpPr/>
          <p:nvPr/>
        </p:nvSpPr>
        <p:spPr>
          <a:xfrm>
            <a:off x="4663440" y="2706624"/>
            <a:ext cx="10058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Series</a:t>
            </a:r>
            <a:endParaRPr lang="en-US" sz="1100" dirty="0"/>
          </a:p>
        </p:txBody>
      </p:sp>
      <p:sp>
        <p:nvSpPr>
          <p:cNvPr id="31" name="Text 29"/>
          <p:cNvSpPr/>
          <p:nvPr/>
        </p:nvSpPr>
        <p:spPr>
          <a:xfrm>
            <a:off x="5669280" y="2706624"/>
            <a:ext cx="11887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IN</a:t>
            </a:r>
            <a:endParaRPr lang="en-US" sz="1100" dirty="0"/>
          </a:p>
        </p:txBody>
      </p:sp>
      <p:sp>
        <p:nvSpPr>
          <p:cNvPr id="32" name="Text 30"/>
          <p:cNvSpPr/>
          <p:nvPr/>
        </p:nvSpPr>
        <p:spPr>
          <a:xfrm>
            <a:off x="6858000" y="2706624"/>
            <a:ext cx="73152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55</a:t>
            </a:r>
            <a:endParaRPr lang="en-US" sz="1100" dirty="0"/>
          </a:p>
        </p:txBody>
      </p:sp>
      <p:sp>
        <p:nvSpPr>
          <p:cNvPr id="33" name="Text 31"/>
          <p:cNvSpPr/>
          <p:nvPr/>
        </p:nvSpPr>
        <p:spPr>
          <a:xfrm>
            <a:off x="7589520" y="2706624"/>
            <a:ext cx="1463040" cy="347472"/>
          </a:xfrm>
          <a:prstGeom prst="rect">
            <a:avLst/>
          </a:prstGeom>
          <a:noFill/>
          <a:ln/>
        </p:spPr>
        <p:txBody>
          <a:bodyPr wrap="square" rtlCol="0" anchor="ctr"/>
          <a:lstStyle/>
          <a:p>
            <a:pPr marL="0" indent="0">
              <a:buNone/>
            </a:pPr>
            <a:r>
              <a:rPr lang="en-US" sz="1100" b="1" dirty="0">
                <a:solidFill>
                  <a:srgbClr val="A02B2B"/>
                </a:solidFill>
                <a:latin typeface="Consolas" pitchFamily="34" charset="0"/>
                <a:ea typeface="Consolas" pitchFamily="34" charset="-122"/>
                <a:cs typeface="Consolas" pitchFamily="34" charset="-120"/>
              </a:rPr>
              <a:t>−3</a:t>
            </a:r>
            <a:endParaRPr lang="en-US" sz="1100" dirty="0"/>
          </a:p>
        </p:txBody>
      </p:sp>
      <p:sp>
        <p:nvSpPr>
          <p:cNvPr id="34" name="Text 32"/>
          <p:cNvSpPr/>
          <p:nvPr/>
        </p:nvSpPr>
        <p:spPr>
          <a:xfrm>
            <a:off x="548640" y="3054096"/>
            <a:ext cx="109728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2026-05-26</a:t>
            </a:r>
            <a:endParaRPr lang="en-US" sz="1100" dirty="0"/>
          </a:p>
        </p:txBody>
      </p:sp>
      <p:sp>
        <p:nvSpPr>
          <p:cNvPr id="35" name="Text 33"/>
          <p:cNvSpPr/>
          <p:nvPr/>
        </p:nvSpPr>
        <p:spPr>
          <a:xfrm>
            <a:off x="1645920" y="3054096"/>
            <a:ext cx="30175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Pokémon S01</a:t>
            </a:r>
            <a:endParaRPr lang="en-US" sz="1100" dirty="0"/>
          </a:p>
        </p:txBody>
      </p:sp>
      <p:sp>
        <p:nvSpPr>
          <p:cNvPr id="36" name="Text 34"/>
          <p:cNvSpPr/>
          <p:nvPr/>
        </p:nvSpPr>
        <p:spPr>
          <a:xfrm>
            <a:off x="4663440" y="3054096"/>
            <a:ext cx="10058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Anime</a:t>
            </a:r>
            <a:endParaRPr lang="en-US" sz="1100" dirty="0"/>
          </a:p>
        </p:txBody>
      </p:sp>
      <p:sp>
        <p:nvSpPr>
          <p:cNvPr id="37" name="Text 35"/>
          <p:cNvSpPr/>
          <p:nvPr/>
        </p:nvSpPr>
        <p:spPr>
          <a:xfrm>
            <a:off x="5669280" y="3054096"/>
            <a:ext cx="118872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BR</a:t>
            </a:r>
            <a:endParaRPr lang="en-US" sz="1100" dirty="0"/>
          </a:p>
        </p:txBody>
      </p:sp>
      <p:sp>
        <p:nvSpPr>
          <p:cNvPr id="38" name="Text 36"/>
          <p:cNvSpPr/>
          <p:nvPr/>
        </p:nvSpPr>
        <p:spPr>
          <a:xfrm>
            <a:off x="6858000" y="3054096"/>
            <a:ext cx="731520" cy="347472"/>
          </a:xfrm>
          <a:prstGeom prst="rect">
            <a:avLst/>
          </a:prstGeom>
          <a:noFill/>
          <a:ln/>
        </p:spPr>
        <p:txBody>
          <a:bodyPr wrap="square" rtlCol="0" anchor="ctr"/>
          <a:lstStyle/>
          <a:p>
            <a:pPr marL="0" indent="0">
              <a:buNone/>
            </a:pPr>
            <a:r>
              <a:rPr lang="en-US" sz="1100" dirty="0">
                <a:solidFill>
                  <a:srgbClr val="1A1A1A"/>
                </a:solidFill>
                <a:latin typeface="Consolas" pitchFamily="34" charset="0"/>
                <a:ea typeface="Consolas" pitchFamily="34" charset="-122"/>
                <a:cs typeface="Consolas" pitchFamily="34" charset="-120"/>
              </a:rPr>
              <a:t>31</a:t>
            </a:r>
            <a:endParaRPr lang="en-US" sz="1100" dirty="0"/>
          </a:p>
        </p:txBody>
      </p:sp>
      <p:sp>
        <p:nvSpPr>
          <p:cNvPr id="39" name="Text 37"/>
          <p:cNvSpPr/>
          <p:nvPr/>
        </p:nvSpPr>
        <p:spPr>
          <a:xfrm>
            <a:off x="7589520" y="3054096"/>
            <a:ext cx="1463040" cy="347472"/>
          </a:xfrm>
          <a:prstGeom prst="rect">
            <a:avLst/>
          </a:prstGeom>
          <a:noFill/>
          <a:ln/>
        </p:spPr>
        <p:txBody>
          <a:bodyPr wrap="square" rtlCol="0" anchor="ctr"/>
          <a:lstStyle/>
          <a:p>
            <a:pPr marL="0" indent="0">
              <a:buNone/>
            </a:pPr>
            <a:r>
              <a:rPr lang="en-US" sz="1100" b="1" dirty="0">
                <a:solidFill>
                  <a:srgbClr val="5A5A5A"/>
                </a:solidFill>
                <a:latin typeface="Consolas" pitchFamily="34" charset="0"/>
                <a:ea typeface="Consolas" pitchFamily="34" charset="-122"/>
                <a:cs typeface="Consolas" pitchFamily="34" charset="-120"/>
              </a:rPr>
              <a:t>0</a:t>
            </a:r>
            <a:endParaRPr lang="en-US" sz="1100" dirty="0"/>
          </a:p>
        </p:txBody>
      </p:sp>
      <p:sp>
        <p:nvSpPr>
          <p:cNvPr id="40" name="Text 38"/>
          <p:cNvSpPr/>
          <p:nvPr/>
        </p:nvSpPr>
        <p:spPr>
          <a:xfrm>
            <a:off x="457200" y="3493008"/>
            <a:ext cx="8503920" cy="274320"/>
          </a:xfrm>
          <a:prstGeom prst="rect">
            <a:avLst/>
          </a:prstGeom>
          <a:noFill/>
          <a:ln/>
        </p:spPr>
        <p:txBody>
          <a:bodyPr wrap="square" rtlCol="0" anchor="ctr"/>
          <a:lstStyle/>
          <a:p>
            <a:pPr marL="0" indent="0">
              <a:buNone/>
            </a:pPr>
            <a:r>
              <a:rPr lang="en-US" sz="1000" i="1" dirty="0">
                <a:solidFill>
                  <a:srgbClr val="5A5A5A"/>
                </a:solidFill>
                <a:latin typeface="Calibri" pitchFamily="34" charset="0"/>
                <a:ea typeface="Calibri" pitchFamily="34" charset="-122"/>
                <a:cs typeface="Calibri" pitchFamily="34" charset="-120"/>
              </a:rPr>
              <a:t>Our per-country demand feed: distinct sharer IPs per country per day. Stored in S3 · queryable via AWS Athena.</a:t>
            </a:r>
            <a:endParaRPr lang="en-US" sz="1000" dirty="0"/>
          </a:p>
        </p:txBody>
      </p:sp>
      <p:sp>
        <p:nvSpPr>
          <p:cNvPr id="41" name="Shape 39"/>
          <p:cNvSpPr/>
          <p:nvPr/>
        </p:nvSpPr>
        <p:spPr>
          <a:xfrm>
            <a:off x="9144000" y="1691640"/>
            <a:ext cx="2606040" cy="4023360"/>
          </a:xfrm>
          <a:prstGeom prst="rect">
            <a:avLst/>
          </a:prstGeom>
          <a:solidFill>
            <a:srgbClr val="F4EFE6"/>
          </a:solidFill>
          <a:ln w="9525">
            <a:solidFill>
              <a:srgbClr val="E6E0D2"/>
            </a:solidFill>
            <a:prstDash val="solid"/>
          </a:ln>
        </p:spPr>
        <p:txBody>
          <a:bodyPr/>
          <a:lstStyle/>
          <a:p>
            <a:endParaRPr lang="en-US"/>
          </a:p>
        </p:txBody>
      </p:sp>
      <p:sp>
        <p:nvSpPr>
          <p:cNvPr id="42" name="Shape 40"/>
          <p:cNvSpPr/>
          <p:nvPr/>
        </p:nvSpPr>
        <p:spPr>
          <a:xfrm>
            <a:off x="9144000" y="1691640"/>
            <a:ext cx="73152" cy="4023360"/>
          </a:xfrm>
          <a:prstGeom prst="rect">
            <a:avLst/>
          </a:prstGeom>
          <a:solidFill>
            <a:srgbClr val="C8763C"/>
          </a:solidFill>
          <a:ln w="12700">
            <a:solidFill>
              <a:srgbClr val="C8763C"/>
            </a:solidFill>
            <a:prstDash val="solid"/>
          </a:ln>
        </p:spPr>
        <p:txBody>
          <a:bodyPr/>
          <a:lstStyle/>
          <a:p>
            <a:endParaRPr lang="en-US"/>
          </a:p>
        </p:txBody>
      </p:sp>
      <p:sp>
        <p:nvSpPr>
          <p:cNvPr id="43" name="Text 41"/>
          <p:cNvSpPr/>
          <p:nvPr/>
        </p:nvSpPr>
        <p:spPr>
          <a:xfrm>
            <a:off x="9326880" y="1874520"/>
            <a:ext cx="2331720" cy="365760"/>
          </a:xfrm>
          <a:prstGeom prst="rect">
            <a:avLst/>
          </a:prstGeom>
          <a:noFill/>
          <a:ln/>
        </p:spPr>
        <p:txBody>
          <a:bodyPr wrap="square" rtlCol="0" anchor="ctr"/>
          <a:lstStyle/>
          <a:p>
            <a:pPr marL="0" indent="0">
              <a:buNone/>
            </a:pPr>
            <a:r>
              <a:rPr lang="en-US" sz="800" b="1" kern="0" spc="400" dirty="0">
                <a:solidFill>
                  <a:srgbClr val="C8763C"/>
                </a:solidFill>
                <a:latin typeface="Calibri" pitchFamily="34" charset="0"/>
                <a:ea typeface="Calibri" pitchFamily="34" charset="-122"/>
                <a:cs typeface="Calibri" pitchFamily="34" charset="-120"/>
              </a:rPr>
              <a:t>QUESTIONS THE TEAM CAN ASK</a:t>
            </a:r>
            <a:endParaRPr lang="en-US" sz="800" dirty="0"/>
          </a:p>
        </p:txBody>
      </p:sp>
      <p:sp>
        <p:nvSpPr>
          <p:cNvPr id="44" name="Text 42"/>
          <p:cNvSpPr/>
          <p:nvPr/>
        </p:nvSpPr>
        <p:spPr>
          <a:xfrm>
            <a:off x="9326880" y="2286000"/>
            <a:ext cx="274320" cy="274320"/>
          </a:xfrm>
          <a:prstGeom prst="rect">
            <a:avLst/>
          </a:prstGeom>
          <a:noFill/>
          <a:ln/>
        </p:spPr>
        <p:txBody>
          <a:bodyPr wrap="square" rtlCol="0" anchor="ctr"/>
          <a:lstStyle/>
          <a:p>
            <a:pPr marL="0" indent="0">
              <a:buNone/>
            </a:pPr>
            <a:r>
              <a:rPr lang="en-US" sz="1200" b="1" dirty="0">
                <a:solidFill>
                  <a:srgbClr val="9A5825"/>
                </a:solidFill>
                <a:latin typeface="Calibri" pitchFamily="34" charset="0"/>
                <a:ea typeface="Calibri" pitchFamily="34" charset="-122"/>
                <a:cs typeface="Calibri" pitchFamily="34" charset="-120"/>
              </a:rPr>
              <a:t>—</a:t>
            </a:r>
            <a:endParaRPr lang="en-US" sz="1200" dirty="0"/>
          </a:p>
        </p:txBody>
      </p:sp>
      <p:sp>
        <p:nvSpPr>
          <p:cNvPr id="45" name="Text 43"/>
          <p:cNvSpPr/>
          <p:nvPr/>
        </p:nvSpPr>
        <p:spPr>
          <a:xfrm>
            <a:off x="9326880" y="2468880"/>
            <a:ext cx="2331720" cy="594360"/>
          </a:xfrm>
          <a:prstGeom prst="rect">
            <a:avLst/>
          </a:prstGeom>
          <a:noFill/>
          <a:ln/>
        </p:spPr>
        <p:txBody>
          <a:bodyPr wrap="square" rtlCol="0" anchor="ctr"/>
          <a:lstStyle/>
          <a:p>
            <a:pPr marL="0" indent="0">
              <a:lnSpc>
                <a:spcPct val="130000"/>
              </a:lnSpc>
              <a:buNone/>
            </a:pPr>
            <a:r>
              <a:rPr lang="en-US" sz="1100" i="1" dirty="0">
                <a:solidFill>
                  <a:srgbClr val="0B1F3A"/>
                </a:solidFill>
                <a:latin typeface="Georgia" pitchFamily="34" charset="0"/>
                <a:ea typeface="Georgia" pitchFamily="34" charset="-122"/>
                <a:cs typeface="Georgia" pitchFamily="34" charset="-120"/>
              </a:rPr>
              <a:t>Which titles had the most piracy activity this week?</a:t>
            </a:r>
            <a:endParaRPr lang="en-US" sz="1100" dirty="0"/>
          </a:p>
        </p:txBody>
      </p:sp>
      <p:sp>
        <p:nvSpPr>
          <p:cNvPr id="46" name="Text 44"/>
          <p:cNvSpPr/>
          <p:nvPr/>
        </p:nvSpPr>
        <p:spPr>
          <a:xfrm>
            <a:off x="9326880" y="3108960"/>
            <a:ext cx="274320" cy="274320"/>
          </a:xfrm>
          <a:prstGeom prst="rect">
            <a:avLst/>
          </a:prstGeom>
          <a:noFill/>
          <a:ln/>
        </p:spPr>
        <p:txBody>
          <a:bodyPr wrap="square" rtlCol="0" anchor="ctr"/>
          <a:lstStyle/>
          <a:p>
            <a:pPr marL="0" indent="0">
              <a:buNone/>
            </a:pPr>
            <a:r>
              <a:rPr lang="en-US" sz="1200" b="1" dirty="0">
                <a:solidFill>
                  <a:srgbClr val="9A5825"/>
                </a:solidFill>
                <a:latin typeface="Calibri" pitchFamily="34" charset="0"/>
                <a:ea typeface="Calibri" pitchFamily="34" charset="-122"/>
                <a:cs typeface="Calibri" pitchFamily="34" charset="-120"/>
              </a:rPr>
              <a:t>—</a:t>
            </a:r>
            <a:endParaRPr lang="en-US" sz="1200" dirty="0"/>
          </a:p>
        </p:txBody>
      </p:sp>
      <p:sp>
        <p:nvSpPr>
          <p:cNvPr id="47" name="Text 45"/>
          <p:cNvSpPr/>
          <p:nvPr/>
        </p:nvSpPr>
        <p:spPr>
          <a:xfrm>
            <a:off x="9326880" y="3291840"/>
            <a:ext cx="2331720" cy="594360"/>
          </a:xfrm>
          <a:prstGeom prst="rect">
            <a:avLst/>
          </a:prstGeom>
          <a:noFill/>
          <a:ln/>
        </p:spPr>
        <p:txBody>
          <a:bodyPr wrap="square" rtlCol="0" anchor="ctr"/>
          <a:lstStyle/>
          <a:p>
            <a:pPr marL="0" indent="0">
              <a:lnSpc>
                <a:spcPct val="130000"/>
              </a:lnSpc>
              <a:buNone/>
            </a:pPr>
            <a:r>
              <a:rPr lang="en-US" sz="1100" i="1" dirty="0">
                <a:solidFill>
                  <a:srgbClr val="0B1F3A"/>
                </a:solidFill>
                <a:latin typeface="Georgia" pitchFamily="34" charset="0"/>
                <a:ea typeface="Georgia" pitchFamily="34" charset="-122"/>
                <a:cs typeface="Georgia" pitchFamily="34" charset="-120"/>
              </a:rPr>
              <a:t>Which countries are the biggest sources of piracy for our content?</a:t>
            </a:r>
            <a:endParaRPr lang="en-US" sz="1100" dirty="0"/>
          </a:p>
        </p:txBody>
      </p:sp>
      <p:sp>
        <p:nvSpPr>
          <p:cNvPr id="48" name="Text 46"/>
          <p:cNvSpPr/>
          <p:nvPr/>
        </p:nvSpPr>
        <p:spPr>
          <a:xfrm>
            <a:off x="9326880" y="3931920"/>
            <a:ext cx="274320" cy="274320"/>
          </a:xfrm>
          <a:prstGeom prst="rect">
            <a:avLst/>
          </a:prstGeom>
          <a:noFill/>
          <a:ln/>
        </p:spPr>
        <p:txBody>
          <a:bodyPr wrap="square" rtlCol="0" anchor="ctr"/>
          <a:lstStyle/>
          <a:p>
            <a:pPr marL="0" indent="0">
              <a:buNone/>
            </a:pPr>
            <a:r>
              <a:rPr lang="en-US" sz="1200" b="1" dirty="0">
                <a:solidFill>
                  <a:srgbClr val="9A5825"/>
                </a:solidFill>
                <a:latin typeface="Calibri" pitchFamily="34" charset="0"/>
                <a:ea typeface="Calibri" pitchFamily="34" charset="-122"/>
                <a:cs typeface="Calibri" pitchFamily="34" charset="-120"/>
              </a:rPr>
              <a:t>—</a:t>
            </a:r>
            <a:endParaRPr lang="en-US" sz="1200" dirty="0"/>
          </a:p>
        </p:txBody>
      </p:sp>
      <p:sp>
        <p:nvSpPr>
          <p:cNvPr id="49" name="Text 47"/>
          <p:cNvSpPr/>
          <p:nvPr/>
        </p:nvSpPr>
        <p:spPr>
          <a:xfrm>
            <a:off x="9326880" y="4114800"/>
            <a:ext cx="2331720" cy="594360"/>
          </a:xfrm>
          <a:prstGeom prst="rect">
            <a:avLst/>
          </a:prstGeom>
          <a:noFill/>
          <a:ln/>
        </p:spPr>
        <p:txBody>
          <a:bodyPr wrap="square" rtlCol="0" anchor="ctr"/>
          <a:lstStyle/>
          <a:p>
            <a:pPr marL="0" indent="0">
              <a:lnSpc>
                <a:spcPct val="130000"/>
              </a:lnSpc>
              <a:buNone/>
            </a:pPr>
            <a:r>
              <a:rPr lang="en-US" sz="1100" i="1" dirty="0">
                <a:solidFill>
                  <a:srgbClr val="0B1F3A"/>
                </a:solidFill>
                <a:latin typeface="Georgia" pitchFamily="34" charset="0"/>
                <a:ea typeface="Georgia" pitchFamily="34" charset="-122"/>
                <a:cs typeface="Georgia" pitchFamily="34" charset="-120"/>
              </a:rPr>
              <a:t>Is piracy of a specific title growing or shrinking day over day?</a:t>
            </a:r>
            <a:endParaRPr lang="en-US" sz="1100" dirty="0"/>
          </a:p>
        </p:txBody>
      </p:sp>
      <p:sp>
        <p:nvSpPr>
          <p:cNvPr id="50" name="Text 48"/>
          <p:cNvSpPr/>
          <p:nvPr/>
        </p:nvSpPr>
        <p:spPr>
          <a:xfrm>
            <a:off x="9326880" y="4754880"/>
            <a:ext cx="274320" cy="274320"/>
          </a:xfrm>
          <a:prstGeom prst="rect">
            <a:avLst/>
          </a:prstGeom>
          <a:noFill/>
          <a:ln/>
        </p:spPr>
        <p:txBody>
          <a:bodyPr wrap="square" rtlCol="0" anchor="ctr"/>
          <a:lstStyle/>
          <a:p>
            <a:pPr marL="0" indent="0">
              <a:buNone/>
            </a:pPr>
            <a:r>
              <a:rPr lang="en-US" sz="1200" b="1" dirty="0">
                <a:solidFill>
                  <a:srgbClr val="9A5825"/>
                </a:solidFill>
                <a:latin typeface="Calibri" pitchFamily="34" charset="0"/>
                <a:ea typeface="Calibri" pitchFamily="34" charset="-122"/>
                <a:cs typeface="Calibri" pitchFamily="34" charset="-120"/>
              </a:rPr>
              <a:t>—</a:t>
            </a:r>
            <a:endParaRPr lang="en-US" sz="1200" dirty="0"/>
          </a:p>
        </p:txBody>
      </p:sp>
      <p:sp>
        <p:nvSpPr>
          <p:cNvPr id="51" name="Text 49"/>
          <p:cNvSpPr/>
          <p:nvPr/>
        </p:nvSpPr>
        <p:spPr>
          <a:xfrm>
            <a:off x="9326880" y="4937760"/>
            <a:ext cx="2331720" cy="594360"/>
          </a:xfrm>
          <a:prstGeom prst="rect">
            <a:avLst/>
          </a:prstGeom>
          <a:noFill/>
          <a:ln/>
        </p:spPr>
        <p:txBody>
          <a:bodyPr wrap="square" rtlCol="0" anchor="ctr"/>
          <a:lstStyle/>
          <a:p>
            <a:pPr marL="0" indent="0">
              <a:lnSpc>
                <a:spcPct val="130000"/>
              </a:lnSpc>
              <a:buNone/>
            </a:pPr>
            <a:r>
              <a:rPr lang="en-US" sz="1100" i="1" dirty="0">
                <a:solidFill>
                  <a:srgbClr val="0B1F3A"/>
                </a:solidFill>
                <a:latin typeface="Georgia" pitchFamily="34" charset="0"/>
                <a:ea typeface="Georgia" pitchFamily="34" charset="-122"/>
                <a:cs typeface="Georgia" pitchFamily="34" charset="-120"/>
              </a:rPr>
              <a:t>What new content is emerging on piracy networks before it hits our radar?</a:t>
            </a:r>
            <a:endParaRPr lang="en-US" sz="1100" dirty="0"/>
          </a:p>
        </p:txBody>
      </p:sp>
      <p:sp>
        <p:nvSpPr>
          <p:cNvPr id="52" name="Shape 50"/>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53" name="Text 51"/>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54" name="Text 52"/>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55" name="Text 53"/>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08</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WHAT RUNS WHERE — IN PLAIN ENGLISH</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The Infrastructure</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Text 5"/>
          <p:cNvSpPr/>
          <p:nvPr/>
        </p:nvSpPr>
        <p:spPr>
          <a:xfrm>
            <a:off x="457200" y="1691640"/>
            <a:ext cx="11274552" cy="457200"/>
          </a:xfrm>
          <a:prstGeom prst="rect">
            <a:avLst/>
          </a:prstGeom>
          <a:noFill/>
          <a:ln/>
        </p:spPr>
        <p:txBody>
          <a:bodyPr wrap="square" rtlCol="0" anchor="ctr"/>
          <a:lstStyle/>
          <a:p>
            <a:pPr marL="0" indent="0">
              <a:buNone/>
            </a:pPr>
            <a:r>
              <a:rPr lang="en-US" sz="1300" i="1" dirty="0">
                <a:solidFill>
                  <a:srgbClr val="5A5A5A"/>
                </a:solidFill>
                <a:latin typeface="Calibri" pitchFamily="34" charset="0"/>
                <a:ea typeface="Calibri" pitchFamily="34" charset="-122"/>
                <a:cs typeface="Calibri" pitchFamily="34" charset="-120"/>
              </a:rPr>
              <a:t>The whole system runs on a single always-on cloud server. Here is how the pieces fit together.</a:t>
            </a:r>
            <a:endParaRPr lang="en-US" sz="1300" dirty="0"/>
          </a:p>
        </p:txBody>
      </p:sp>
      <p:sp>
        <p:nvSpPr>
          <p:cNvPr id="8" name="Shape 6"/>
          <p:cNvSpPr/>
          <p:nvPr/>
        </p:nvSpPr>
        <p:spPr>
          <a:xfrm>
            <a:off x="457200" y="2377440"/>
            <a:ext cx="3575304" cy="1691640"/>
          </a:xfrm>
          <a:prstGeom prst="rect">
            <a:avLst/>
          </a:prstGeom>
          <a:solidFill>
            <a:srgbClr val="FBF8F2"/>
          </a:solidFill>
          <a:ln w="9525">
            <a:solidFill>
              <a:srgbClr val="E6E0D2"/>
            </a:solidFill>
            <a:prstDash val="solid"/>
          </a:ln>
        </p:spPr>
        <p:txBody>
          <a:bodyPr/>
          <a:lstStyle/>
          <a:p>
            <a:endParaRPr lang="en-US"/>
          </a:p>
        </p:txBody>
      </p:sp>
      <p:sp>
        <p:nvSpPr>
          <p:cNvPr id="9" name="Shape 7"/>
          <p:cNvSpPr/>
          <p:nvPr/>
        </p:nvSpPr>
        <p:spPr>
          <a:xfrm>
            <a:off x="457200" y="2377440"/>
            <a:ext cx="365760" cy="54864"/>
          </a:xfrm>
          <a:prstGeom prst="rect">
            <a:avLst/>
          </a:prstGeom>
          <a:solidFill>
            <a:srgbClr val="C8763C"/>
          </a:solidFill>
          <a:ln w="12700">
            <a:solidFill>
              <a:srgbClr val="C8763C"/>
            </a:solidFill>
            <a:prstDash val="solid"/>
          </a:ln>
        </p:spPr>
        <p:txBody>
          <a:bodyPr/>
          <a:lstStyle/>
          <a:p>
            <a:endParaRPr lang="en-US"/>
          </a:p>
        </p:txBody>
      </p:sp>
      <p:sp>
        <p:nvSpPr>
          <p:cNvPr id="10" name="Text 8"/>
          <p:cNvSpPr/>
          <p:nvPr/>
        </p:nvSpPr>
        <p:spPr>
          <a:xfrm>
            <a:off x="685800" y="2514600"/>
            <a:ext cx="914400" cy="274320"/>
          </a:xfrm>
          <a:prstGeom prst="rect">
            <a:avLst/>
          </a:prstGeom>
          <a:noFill/>
          <a:ln/>
        </p:spPr>
        <p:txBody>
          <a:bodyPr wrap="square" rtlCol="0" anchor="ctr"/>
          <a:lstStyle/>
          <a:p>
            <a:pPr marL="0" indent="0">
              <a:buNone/>
            </a:pPr>
            <a:r>
              <a:rPr lang="en-US" sz="1000" b="1" dirty="0">
                <a:solidFill>
                  <a:srgbClr val="C8763C"/>
                </a:solidFill>
                <a:latin typeface="Consolas" pitchFamily="34" charset="0"/>
                <a:ea typeface="Consolas" pitchFamily="34" charset="-122"/>
                <a:cs typeface="Consolas" pitchFamily="34" charset="-120"/>
              </a:rPr>
              <a:t>01</a:t>
            </a:r>
            <a:endParaRPr lang="en-US" sz="1000" dirty="0"/>
          </a:p>
        </p:txBody>
      </p:sp>
      <p:sp>
        <p:nvSpPr>
          <p:cNvPr id="11" name="Text 9"/>
          <p:cNvSpPr/>
          <p:nvPr/>
        </p:nvSpPr>
        <p:spPr>
          <a:xfrm>
            <a:off x="685800" y="2834640"/>
            <a:ext cx="3118104" cy="411480"/>
          </a:xfrm>
          <a:prstGeom prst="rect">
            <a:avLst/>
          </a:prstGeom>
          <a:noFill/>
          <a:ln/>
        </p:spPr>
        <p:txBody>
          <a:bodyPr wrap="square" rtlCol="0" anchor="t"/>
          <a:lstStyle/>
          <a:p>
            <a:pPr marL="0" indent="0">
              <a:buNone/>
            </a:pPr>
            <a:r>
              <a:rPr lang="en-US" sz="1800" b="1" dirty="0">
                <a:solidFill>
                  <a:srgbClr val="0B1F3A"/>
                </a:solidFill>
                <a:latin typeface="Georgia" pitchFamily="34" charset="0"/>
                <a:ea typeface="Georgia" pitchFamily="34" charset="-122"/>
                <a:cs typeface="Georgia" pitchFamily="34" charset="-120"/>
              </a:rPr>
              <a:t>EC2 Server</a:t>
            </a:r>
            <a:endParaRPr lang="en-US" sz="1800" dirty="0"/>
          </a:p>
        </p:txBody>
      </p:sp>
      <p:sp>
        <p:nvSpPr>
          <p:cNvPr id="12" name="Text 10"/>
          <p:cNvSpPr/>
          <p:nvPr/>
        </p:nvSpPr>
        <p:spPr>
          <a:xfrm>
            <a:off x="685800" y="3291840"/>
            <a:ext cx="3118104" cy="731520"/>
          </a:xfrm>
          <a:prstGeom prst="rect">
            <a:avLst/>
          </a:prstGeom>
          <a:noFill/>
          <a:ln/>
        </p:spPr>
        <p:txBody>
          <a:bodyPr wrap="square" rtlCol="0" anchor="t"/>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Always-on cloud server that runs all collection and scanning code.</a:t>
            </a:r>
            <a:endParaRPr lang="en-US" sz="1100" dirty="0"/>
          </a:p>
        </p:txBody>
      </p:sp>
      <p:sp>
        <p:nvSpPr>
          <p:cNvPr id="13" name="Shape 11"/>
          <p:cNvSpPr/>
          <p:nvPr/>
        </p:nvSpPr>
        <p:spPr>
          <a:xfrm>
            <a:off x="4306824" y="2377440"/>
            <a:ext cx="3575304" cy="1691640"/>
          </a:xfrm>
          <a:prstGeom prst="rect">
            <a:avLst/>
          </a:prstGeom>
          <a:solidFill>
            <a:srgbClr val="FBF8F2"/>
          </a:solidFill>
          <a:ln w="9525">
            <a:solidFill>
              <a:srgbClr val="E6E0D2"/>
            </a:solidFill>
            <a:prstDash val="solid"/>
          </a:ln>
        </p:spPr>
        <p:txBody>
          <a:bodyPr/>
          <a:lstStyle/>
          <a:p>
            <a:endParaRPr lang="en-US"/>
          </a:p>
        </p:txBody>
      </p:sp>
      <p:sp>
        <p:nvSpPr>
          <p:cNvPr id="14" name="Shape 12"/>
          <p:cNvSpPr/>
          <p:nvPr/>
        </p:nvSpPr>
        <p:spPr>
          <a:xfrm>
            <a:off x="4306824" y="2377440"/>
            <a:ext cx="365760" cy="54864"/>
          </a:xfrm>
          <a:prstGeom prst="rect">
            <a:avLst/>
          </a:prstGeom>
          <a:solidFill>
            <a:srgbClr val="C8763C"/>
          </a:solidFill>
          <a:ln w="12700">
            <a:solidFill>
              <a:srgbClr val="C8763C"/>
            </a:solidFill>
            <a:prstDash val="solid"/>
          </a:ln>
        </p:spPr>
        <p:txBody>
          <a:bodyPr/>
          <a:lstStyle/>
          <a:p>
            <a:endParaRPr lang="en-US"/>
          </a:p>
        </p:txBody>
      </p:sp>
      <p:sp>
        <p:nvSpPr>
          <p:cNvPr id="15" name="Text 13"/>
          <p:cNvSpPr/>
          <p:nvPr/>
        </p:nvSpPr>
        <p:spPr>
          <a:xfrm>
            <a:off x="4535424" y="2514600"/>
            <a:ext cx="914400" cy="274320"/>
          </a:xfrm>
          <a:prstGeom prst="rect">
            <a:avLst/>
          </a:prstGeom>
          <a:noFill/>
          <a:ln/>
        </p:spPr>
        <p:txBody>
          <a:bodyPr wrap="square" rtlCol="0" anchor="ctr"/>
          <a:lstStyle/>
          <a:p>
            <a:pPr marL="0" indent="0">
              <a:buNone/>
            </a:pPr>
            <a:r>
              <a:rPr lang="en-US" sz="1000" b="1" dirty="0">
                <a:solidFill>
                  <a:srgbClr val="C8763C"/>
                </a:solidFill>
                <a:latin typeface="Consolas" pitchFamily="34" charset="0"/>
                <a:ea typeface="Consolas" pitchFamily="34" charset="-122"/>
                <a:cs typeface="Consolas" pitchFamily="34" charset="-120"/>
              </a:rPr>
              <a:t>02</a:t>
            </a:r>
            <a:endParaRPr lang="en-US" sz="1000" dirty="0"/>
          </a:p>
        </p:txBody>
      </p:sp>
      <p:sp>
        <p:nvSpPr>
          <p:cNvPr id="16" name="Text 14"/>
          <p:cNvSpPr/>
          <p:nvPr/>
        </p:nvSpPr>
        <p:spPr>
          <a:xfrm>
            <a:off x="4535424" y="2834640"/>
            <a:ext cx="3118104" cy="411480"/>
          </a:xfrm>
          <a:prstGeom prst="rect">
            <a:avLst/>
          </a:prstGeom>
          <a:noFill/>
          <a:ln/>
        </p:spPr>
        <p:txBody>
          <a:bodyPr wrap="square" rtlCol="0" anchor="t"/>
          <a:lstStyle/>
          <a:p>
            <a:pPr marL="0" indent="0">
              <a:buNone/>
            </a:pPr>
            <a:r>
              <a:rPr lang="en-US" sz="1800" b="1" dirty="0">
                <a:solidFill>
                  <a:srgbClr val="0B1F3A"/>
                </a:solidFill>
                <a:latin typeface="Georgia" pitchFamily="34" charset="0"/>
                <a:ea typeface="Georgia" pitchFamily="34" charset="-122"/>
                <a:cs typeface="Georgia" pitchFamily="34" charset="-120"/>
              </a:rPr>
              <a:t>SQLite Database</a:t>
            </a:r>
            <a:endParaRPr lang="en-US" sz="1800" dirty="0"/>
          </a:p>
        </p:txBody>
      </p:sp>
      <p:sp>
        <p:nvSpPr>
          <p:cNvPr id="17" name="Text 15"/>
          <p:cNvSpPr/>
          <p:nvPr/>
        </p:nvSpPr>
        <p:spPr>
          <a:xfrm>
            <a:off x="4535424" y="3291840"/>
            <a:ext cx="3118104" cy="731520"/>
          </a:xfrm>
          <a:prstGeom prst="rect">
            <a:avLst/>
          </a:prstGeom>
          <a:noFill/>
          <a:ln/>
        </p:spPr>
        <p:txBody>
          <a:bodyPr wrap="square" rtlCol="0" anchor="t"/>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Two SQLite DBs: the master hash list and the high-volume harvested peer IPs.</a:t>
            </a:r>
            <a:endParaRPr lang="en-US" sz="1100" dirty="0"/>
          </a:p>
        </p:txBody>
      </p:sp>
      <p:sp>
        <p:nvSpPr>
          <p:cNvPr id="18" name="Shape 16"/>
          <p:cNvSpPr/>
          <p:nvPr/>
        </p:nvSpPr>
        <p:spPr>
          <a:xfrm>
            <a:off x="8156448" y="2377440"/>
            <a:ext cx="3575304" cy="1691640"/>
          </a:xfrm>
          <a:prstGeom prst="rect">
            <a:avLst/>
          </a:prstGeom>
          <a:solidFill>
            <a:srgbClr val="FBF8F2"/>
          </a:solidFill>
          <a:ln w="9525">
            <a:solidFill>
              <a:srgbClr val="E6E0D2"/>
            </a:solidFill>
            <a:prstDash val="solid"/>
          </a:ln>
        </p:spPr>
        <p:txBody>
          <a:bodyPr/>
          <a:lstStyle/>
          <a:p>
            <a:endParaRPr lang="en-US"/>
          </a:p>
        </p:txBody>
      </p:sp>
      <p:sp>
        <p:nvSpPr>
          <p:cNvPr id="19" name="Shape 17"/>
          <p:cNvSpPr/>
          <p:nvPr/>
        </p:nvSpPr>
        <p:spPr>
          <a:xfrm>
            <a:off x="8156448" y="2377440"/>
            <a:ext cx="365760" cy="54864"/>
          </a:xfrm>
          <a:prstGeom prst="rect">
            <a:avLst/>
          </a:prstGeom>
          <a:solidFill>
            <a:srgbClr val="C8763C"/>
          </a:solidFill>
          <a:ln w="12700">
            <a:solidFill>
              <a:srgbClr val="C8763C"/>
            </a:solidFill>
            <a:prstDash val="solid"/>
          </a:ln>
        </p:spPr>
        <p:txBody>
          <a:bodyPr/>
          <a:lstStyle/>
          <a:p>
            <a:endParaRPr lang="en-US"/>
          </a:p>
        </p:txBody>
      </p:sp>
      <p:sp>
        <p:nvSpPr>
          <p:cNvPr id="20" name="Text 18"/>
          <p:cNvSpPr/>
          <p:nvPr/>
        </p:nvSpPr>
        <p:spPr>
          <a:xfrm>
            <a:off x="8385048" y="2514600"/>
            <a:ext cx="914400" cy="274320"/>
          </a:xfrm>
          <a:prstGeom prst="rect">
            <a:avLst/>
          </a:prstGeom>
          <a:noFill/>
          <a:ln/>
        </p:spPr>
        <p:txBody>
          <a:bodyPr wrap="square" rtlCol="0" anchor="ctr"/>
          <a:lstStyle/>
          <a:p>
            <a:pPr marL="0" indent="0">
              <a:buNone/>
            </a:pPr>
            <a:r>
              <a:rPr lang="en-US" sz="1000" b="1" dirty="0">
                <a:solidFill>
                  <a:srgbClr val="C8763C"/>
                </a:solidFill>
                <a:latin typeface="Consolas" pitchFamily="34" charset="0"/>
                <a:ea typeface="Consolas" pitchFamily="34" charset="-122"/>
                <a:cs typeface="Consolas" pitchFamily="34" charset="-120"/>
              </a:rPr>
              <a:t>03</a:t>
            </a:r>
            <a:endParaRPr lang="en-US" sz="1000" dirty="0"/>
          </a:p>
        </p:txBody>
      </p:sp>
      <p:sp>
        <p:nvSpPr>
          <p:cNvPr id="21" name="Text 19"/>
          <p:cNvSpPr/>
          <p:nvPr/>
        </p:nvSpPr>
        <p:spPr>
          <a:xfrm>
            <a:off x="8385048" y="2834640"/>
            <a:ext cx="3118104" cy="411480"/>
          </a:xfrm>
          <a:prstGeom prst="rect">
            <a:avLst/>
          </a:prstGeom>
          <a:noFill/>
          <a:ln/>
        </p:spPr>
        <p:txBody>
          <a:bodyPr wrap="square" rtlCol="0" anchor="t"/>
          <a:lstStyle/>
          <a:p>
            <a:pPr marL="0" indent="0">
              <a:buNone/>
            </a:pPr>
            <a:r>
              <a:rPr lang="en-US" sz="1800" b="1" dirty="0">
                <a:solidFill>
                  <a:srgbClr val="0B1F3A"/>
                </a:solidFill>
                <a:latin typeface="Georgia" pitchFamily="34" charset="0"/>
                <a:ea typeface="Georgia" pitchFamily="34" charset="-122"/>
                <a:cs typeface="Georgia" pitchFamily="34" charset="-120"/>
              </a:rPr>
              <a:t>DHT Scanner</a:t>
            </a:r>
            <a:endParaRPr lang="en-US" sz="1800" dirty="0"/>
          </a:p>
        </p:txBody>
      </p:sp>
      <p:sp>
        <p:nvSpPr>
          <p:cNvPr id="22" name="Text 20"/>
          <p:cNvSpPr/>
          <p:nvPr/>
        </p:nvSpPr>
        <p:spPr>
          <a:xfrm>
            <a:off x="8385048" y="3291840"/>
            <a:ext cx="3118104" cy="731520"/>
          </a:xfrm>
          <a:prstGeom prst="rect">
            <a:avLst/>
          </a:prstGeom>
          <a:noFill/>
          <a:ln/>
        </p:spPr>
        <p:txBody>
          <a:bodyPr wrap="square" rtlCol="0" anchor="t"/>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Runs 24/7: DHT peer counts plus the tracker-announce harvester (the strong signal).</a:t>
            </a:r>
            <a:endParaRPr lang="en-US" sz="1100" dirty="0"/>
          </a:p>
        </p:txBody>
      </p:sp>
      <p:sp>
        <p:nvSpPr>
          <p:cNvPr id="23" name="Shape 21"/>
          <p:cNvSpPr/>
          <p:nvPr/>
        </p:nvSpPr>
        <p:spPr>
          <a:xfrm>
            <a:off x="457200" y="4343400"/>
            <a:ext cx="3575304" cy="1691640"/>
          </a:xfrm>
          <a:prstGeom prst="rect">
            <a:avLst/>
          </a:prstGeom>
          <a:solidFill>
            <a:srgbClr val="FBF8F2"/>
          </a:solidFill>
          <a:ln w="9525">
            <a:solidFill>
              <a:srgbClr val="E6E0D2"/>
            </a:solidFill>
            <a:prstDash val="solid"/>
          </a:ln>
        </p:spPr>
        <p:txBody>
          <a:bodyPr/>
          <a:lstStyle/>
          <a:p>
            <a:endParaRPr lang="en-US"/>
          </a:p>
        </p:txBody>
      </p:sp>
      <p:sp>
        <p:nvSpPr>
          <p:cNvPr id="24" name="Shape 22"/>
          <p:cNvSpPr/>
          <p:nvPr/>
        </p:nvSpPr>
        <p:spPr>
          <a:xfrm>
            <a:off x="457200" y="4343400"/>
            <a:ext cx="365760" cy="54864"/>
          </a:xfrm>
          <a:prstGeom prst="rect">
            <a:avLst/>
          </a:prstGeom>
          <a:solidFill>
            <a:srgbClr val="C8763C"/>
          </a:solidFill>
          <a:ln w="12700">
            <a:solidFill>
              <a:srgbClr val="C8763C"/>
            </a:solidFill>
            <a:prstDash val="solid"/>
          </a:ln>
        </p:spPr>
        <p:txBody>
          <a:bodyPr/>
          <a:lstStyle/>
          <a:p>
            <a:endParaRPr lang="en-US"/>
          </a:p>
        </p:txBody>
      </p:sp>
      <p:sp>
        <p:nvSpPr>
          <p:cNvPr id="25" name="Text 23"/>
          <p:cNvSpPr/>
          <p:nvPr/>
        </p:nvSpPr>
        <p:spPr>
          <a:xfrm>
            <a:off x="685800" y="4480560"/>
            <a:ext cx="914400" cy="274320"/>
          </a:xfrm>
          <a:prstGeom prst="rect">
            <a:avLst/>
          </a:prstGeom>
          <a:noFill/>
          <a:ln/>
        </p:spPr>
        <p:txBody>
          <a:bodyPr wrap="square" rtlCol="0" anchor="ctr"/>
          <a:lstStyle/>
          <a:p>
            <a:pPr marL="0" indent="0">
              <a:buNone/>
            </a:pPr>
            <a:r>
              <a:rPr lang="en-US" sz="1000" b="1" dirty="0">
                <a:solidFill>
                  <a:srgbClr val="C8763C"/>
                </a:solidFill>
                <a:latin typeface="Consolas" pitchFamily="34" charset="0"/>
                <a:ea typeface="Consolas" pitchFamily="34" charset="-122"/>
                <a:cs typeface="Consolas" pitchFamily="34" charset="-120"/>
              </a:rPr>
              <a:t>04</a:t>
            </a:r>
            <a:endParaRPr lang="en-US" sz="1000" dirty="0"/>
          </a:p>
        </p:txBody>
      </p:sp>
      <p:sp>
        <p:nvSpPr>
          <p:cNvPr id="26" name="Text 24"/>
          <p:cNvSpPr/>
          <p:nvPr/>
        </p:nvSpPr>
        <p:spPr>
          <a:xfrm>
            <a:off x="685800" y="4800600"/>
            <a:ext cx="3118104" cy="411480"/>
          </a:xfrm>
          <a:prstGeom prst="rect">
            <a:avLst/>
          </a:prstGeom>
          <a:noFill/>
          <a:ln/>
        </p:spPr>
        <p:txBody>
          <a:bodyPr wrap="square" rtlCol="0" anchor="t"/>
          <a:lstStyle/>
          <a:p>
            <a:pPr marL="0" indent="0">
              <a:buNone/>
            </a:pPr>
            <a:r>
              <a:rPr lang="en-US" sz="1800" b="1" dirty="0">
                <a:solidFill>
                  <a:srgbClr val="0B1F3A"/>
                </a:solidFill>
                <a:latin typeface="Georgia" pitchFamily="34" charset="0"/>
                <a:ea typeface="Georgia" pitchFamily="34" charset="-122"/>
                <a:cs typeface="Georgia" pitchFamily="34" charset="-120"/>
              </a:rPr>
              <a:t>Amazon S3</a:t>
            </a:r>
            <a:endParaRPr lang="en-US" sz="1800" dirty="0"/>
          </a:p>
        </p:txBody>
      </p:sp>
      <p:sp>
        <p:nvSpPr>
          <p:cNvPr id="27" name="Text 25"/>
          <p:cNvSpPr/>
          <p:nvPr/>
        </p:nvSpPr>
        <p:spPr>
          <a:xfrm>
            <a:off x="685800" y="5257800"/>
            <a:ext cx="3118104" cy="731520"/>
          </a:xfrm>
          <a:prstGeom prst="rect">
            <a:avLst/>
          </a:prstGeom>
          <a:noFill/>
          <a:ln/>
        </p:spPr>
        <p:txBody>
          <a:bodyPr wrap="square" rtlCol="0" anchor="t"/>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Cloud storage where daily output files are saved and archived.</a:t>
            </a:r>
            <a:endParaRPr lang="en-US" sz="1100" dirty="0"/>
          </a:p>
        </p:txBody>
      </p:sp>
      <p:sp>
        <p:nvSpPr>
          <p:cNvPr id="28" name="Shape 26"/>
          <p:cNvSpPr/>
          <p:nvPr/>
        </p:nvSpPr>
        <p:spPr>
          <a:xfrm>
            <a:off x="4306824" y="4343400"/>
            <a:ext cx="3575304" cy="1691640"/>
          </a:xfrm>
          <a:prstGeom prst="rect">
            <a:avLst/>
          </a:prstGeom>
          <a:solidFill>
            <a:srgbClr val="FBF8F2"/>
          </a:solidFill>
          <a:ln w="9525">
            <a:solidFill>
              <a:srgbClr val="E6E0D2"/>
            </a:solidFill>
            <a:prstDash val="solid"/>
          </a:ln>
        </p:spPr>
        <p:txBody>
          <a:bodyPr/>
          <a:lstStyle/>
          <a:p>
            <a:endParaRPr lang="en-US"/>
          </a:p>
        </p:txBody>
      </p:sp>
      <p:sp>
        <p:nvSpPr>
          <p:cNvPr id="29" name="Shape 27"/>
          <p:cNvSpPr/>
          <p:nvPr/>
        </p:nvSpPr>
        <p:spPr>
          <a:xfrm>
            <a:off x="4306824" y="4343400"/>
            <a:ext cx="365760" cy="54864"/>
          </a:xfrm>
          <a:prstGeom prst="rect">
            <a:avLst/>
          </a:prstGeom>
          <a:solidFill>
            <a:srgbClr val="C8763C"/>
          </a:solidFill>
          <a:ln w="12700">
            <a:solidFill>
              <a:srgbClr val="C8763C"/>
            </a:solidFill>
            <a:prstDash val="solid"/>
          </a:ln>
        </p:spPr>
        <p:txBody>
          <a:bodyPr/>
          <a:lstStyle/>
          <a:p>
            <a:endParaRPr lang="en-US"/>
          </a:p>
        </p:txBody>
      </p:sp>
      <p:sp>
        <p:nvSpPr>
          <p:cNvPr id="30" name="Text 28"/>
          <p:cNvSpPr/>
          <p:nvPr/>
        </p:nvSpPr>
        <p:spPr>
          <a:xfrm>
            <a:off x="4535424" y="4480560"/>
            <a:ext cx="914400" cy="274320"/>
          </a:xfrm>
          <a:prstGeom prst="rect">
            <a:avLst/>
          </a:prstGeom>
          <a:noFill/>
          <a:ln/>
        </p:spPr>
        <p:txBody>
          <a:bodyPr wrap="square" rtlCol="0" anchor="ctr"/>
          <a:lstStyle/>
          <a:p>
            <a:pPr marL="0" indent="0">
              <a:buNone/>
            </a:pPr>
            <a:r>
              <a:rPr lang="en-US" sz="1000" b="1" dirty="0">
                <a:solidFill>
                  <a:srgbClr val="C8763C"/>
                </a:solidFill>
                <a:latin typeface="Consolas" pitchFamily="34" charset="0"/>
                <a:ea typeface="Consolas" pitchFamily="34" charset="-122"/>
                <a:cs typeface="Consolas" pitchFamily="34" charset="-120"/>
              </a:rPr>
              <a:t>05</a:t>
            </a:r>
            <a:endParaRPr lang="en-US" sz="1000" dirty="0"/>
          </a:p>
        </p:txBody>
      </p:sp>
      <p:sp>
        <p:nvSpPr>
          <p:cNvPr id="31" name="Text 29"/>
          <p:cNvSpPr/>
          <p:nvPr/>
        </p:nvSpPr>
        <p:spPr>
          <a:xfrm>
            <a:off x="4535424" y="4800600"/>
            <a:ext cx="3118104" cy="411480"/>
          </a:xfrm>
          <a:prstGeom prst="rect">
            <a:avLst/>
          </a:prstGeom>
          <a:noFill/>
          <a:ln/>
        </p:spPr>
        <p:txBody>
          <a:bodyPr wrap="square" rtlCol="0" anchor="t"/>
          <a:lstStyle/>
          <a:p>
            <a:pPr marL="0" indent="0">
              <a:buNone/>
            </a:pPr>
            <a:r>
              <a:rPr lang="en-US" sz="1800" b="1" dirty="0">
                <a:solidFill>
                  <a:srgbClr val="0B1F3A"/>
                </a:solidFill>
                <a:latin typeface="Georgia" pitchFamily="34" charset="0"/>
                <a:ea typeface="Georgia" pitchFamily="34" charset="-122"/>
                <a:cs typeface="Georgia" pitchFamily="34" charset="-120"/>
              </a:rPr>
              <a:t>AWS Athena</a:t>
            </a:r>
            <a:endParaRPr lang="en-US" sz="1800" dirty="0"/>
          </a:p>
        </p:txBody>
      </p:sp>
      <p:sp>
        <p:nvSpPr>
          <p:cNvPr id="32" name="Text 30"/>
          <p:cNvSpPr/>
          <p:nvPr/>
        </p:nvSpPr>
        <p:spPr>
          <a:xfrm>
            <a:off x="4535424" y="5257800"/>
            <a:ext cx="3118104" cy="731520"/>
          </a:xfrm>
          <a:prstGeom prst="rect">
            <a:avLst/>
          </a:prstGeom>
          <a:noFill/>
          <a:ln/>
        </p:spPr>
        <p:txBody>
          <a:bodyPr wrap="square" rtlCol="0" anchor="t"/>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SQL query tool — lets the team analyse the data without any coding.</a:t>
            </a:r>
            <a:endParaRPr lang="en-US" sz="1100" dirty="0"/>
          </a:p>
        </p:txBody>
      </p:sp>
      <p:sp>
        <p:nvSpPr>
          <p:cNvPr id="33" name="Shape 31"/>
          <p:cNvSpPr/>
          <p:nvPr/>
        </p:nvSpPr>
        <p:spPr>
          <a:xfrm>
            <a:off x="8156448" y="4343400"/>
            <a:ext cx="3575304" cy="1691640"/>
          </a:xfrm>
          <a:prstGeom prst="rect">
            <a:avLst/>
          </a:prstGeom>
          <a:solidFill>
            <a:srgbClr val="FBF8F2"/>
          </a:solidFill>
          <a:ln w="9525">
            <a:solidFill>
              <a:srgbClr val="E6E0D2"/>
            </a:solidFill>
            <a:prstDash val="solid"/>
          </a:ln>
        </p:spPr>
        <p:txBody>
          <a:bodyPr/>
          <a:lstStyle/>
          <a:p>
            <a:endParaRPr lang="en-US"/>
          </a:p>
        </p:txBody>
      </p:sp>
      <p:sp>
        <p:nvSpPr>
          <p:cNvPr id="34" name="Shape 32"/>
          <p:cNvSpPr/>
          <p:nvPr/>
        </p:nvSpPr>
        <p:spPr>
          <a:xfrm>
            <a:off x="8156448" y="4343400"/>
            <a:ext cx="365760" cy="54864"/>
          </a:xfrm>
          <a:prstGeom prst="rect">
            <a:avLst/>
          </a:prstGeom>
          <a:solidFill>
            <a:srgbClr val="C8763C"/>
          </a:solidFill>
          <a:ln w="12700">
            <a:solidFill>
              <a:srgbClr val="C8763C"/>
            </a:solidFill>
            <a:prstDash val="solid"/>
          </a:ln>
        </p:spPr>
        <p:txBody>
          <a:bodyPr/>
          <a:lstStyle/>
          <a:p>
            <a:endParaRPr lang="en-US"/>
          </a:p>
        </p:txBody>
      </p:sp>
      <p:sp>
        <p:nvSpPr>
          <p:cNvPr id="35" name="Text 33"/>
          <p:cNvSpPr/>
          <p:nvPr/>
        </p:nvSpPr>
        <p:spPr>
          <a:xfrm>
            <a:off x="8385048" y="4480560"/>
            <a:ext cx="914400" cy="274320"/>
          </a:xfrm>
          <a:prstGeom prst="rect">
            <a:avLst/>
          </a:prstGeom>
          <a:noFill/>
          <a:ln/>
        </p:spPr>
        <p:txBody>
          <a:bodyPr wrap="square" rtlCol="0" anchor="ctr"/>
          <a:lstStyle/>
          <a:p>
            <a:pPr marL="0" indent="0">
              <a:buNone/>
            </a:pPr>
            <a:r>
              <a:rPr lang="en-US" sz="1000" b="1" dirty="0">
                <a:solidFill>
                  <a:srgbClr val="C8763C"/>
                </a:solidFill>
                <a:latin typeface="Consolas" pitchFamily="34" charset="0"/>
                <a:ea typeface="Consolas" pitchFamily="34" charset="-122"/>
                <a:cs typeface="Consolas" pitchFamily="34" charset="-120"/>
              </a:rPr>
              <a:t>06</a:t>
            </a:r>
            <a:endParaRPr lang="en-US" sz="1000" dirty="0"/>
          </a:p>
        </p:txBody>
      </p:sp>
      <p:sp>
        <p:nvSpPr>
          <p:cNvPr id="36" name="Text 34"/>
          <p:cNvSpPr/>
          <p:nvPr/>
        </p:nvSpPr>
        <p:spPr>
          <a:xfrm>
            <a:off x="8385048" y="4800600"/>
            <a:ext cx="3118104" cy="411480"/>
          </a:xfrm>
          <a:prstGeom prst="rect">
            <a:avLst/>
          </a:prstGeom>
          <a:noFill/>
          <a:ln/>
        </p:spPr>
        <p:txBody>
          <a:bodyPr wrap="square" rtlCol="0" anchor="t"/>
          <a:lstStyle/>
          <a:p>
            <a:pPr marL="0" indent="0">
              <a:buNone/>
            </a:pPr>
            <a:r>
              <a:rPr lang="en-US" sz="1800" b="1" dirty="0">
                <a:solidFill>
                  <a:srgbClr val="0B1F3A"/>
                </a:solidFill>
                <a:latin typeface="Georgia" pitchFamily="34" charset="0"/>
                <a:ea typeface="Georgia" pitchFamily="34" charset="-122"/>
                <a:cs typeface="Georgia" pitchFamily="34" charset="-120"/>
              </a:rPr>
              <a:t>CloudWatch</a:t>
            </a:r>
            <a:endParaRPr lang="en-US" sz="1800" dirty="0"/>
          </a:p>
        </p:txBody>
      </p:sp>
      <p:sp>
        <p:nvSpPr>
          <p:cNvPr id="37" name="Text 35"/>
          <p:cNvSpPr/>
          <p:nvPr/>
        </p:nvSpPr>
        <p:spPr>
          <a:xfrm>
            <a:off x="8385048" y="5257800"/>
            <a:ext cx="3118104" cy="731520"/>
          </a:xfrm>
          <a:prstGeom prst="rect">
            <a:avLst/>
          </a:prstGeom>
          <a:noFill/>
          <a:ln/>
        </p:spPr>
        <p:txBody>
          <a:bodyPr wrap="square" rtlCol="0" anchor="t"/>
          <a:lstStyle/>
          <a:p>
            <a:pPr marL="0" indent="0">
              <a:lnSpc>
                <a:spcPct val="130000"/>
              </a:lnSpc>
              <a:buNone/>
            </a:pPr>
            <a:r>
              <a:rPr lang="en-US" sz="1100" dirty="0">
                <a:solidFill>
                  <a:srgbClr val="5A5A5A"/>
                </a:solidFill>
                <a:latin typeface="Calibri" pitchFamily="34" charset="0"/>
                <a:ea typeface="Calibri" pitchFamily="34" charset="-122"/>
                <a:cs typeface="Calibri" pitchFamily="34" charset="-120"/>
              </a:rPr>
              <a:t>Monitors server health and alerts the team if anything stops working.</a:t>
            </a:r>
            <a:endParaRPr lang="en-US" sz="1100" dirty="0"/>
          </a:p>
        </p:txBody>
      </p:sp>
      <p:sp>
        <p:nvSpPr>
          <p:cNvPr id="38" name="Shape 36"/>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39" name="Text 37"/>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40" name="Text 38"/>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41" name="Text 39"/>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09</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TERMS YOU WILL HEAR US USE</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Glossary  ·  Part I</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Shape 5"/>
          <p:cNvSpPr/>
          <p:nvPr/>
        </p:nvSpPr>
        <p:spPr>
          <a:xfrm>
            <a:off x="457200" y="1737360"/>
            <a:ext cx="54864" cy="1417320"/>
          </a:xfrm>
          <a:prstGeom prst="rect">
            <a:avLst/>
          </a:prstGeom>
          <a:solidFill>
            <a:srgbClr val="C8763C"/>
          </a:solidFill>
          <a:ln w="12700">
            <a:solidFill>
              <a:srgbClr val="C8763C"/>
            </a:solidFill>
            <a:prstDash val="solid"/>
          </a:ln>
        </p:spPr>
        <p:txBody>
          <a:bodyPr/>
          <a:lstStyle/>
          <a:p>
            <a:endParaRPr lang="en-US"/>
          </a:p>
        </p:txBody>
      </p:sp>
      <p:sp>
        <p:nvSpPr>
          <p:cNvPr id="8" name="Text 6"/>
          <p:cNvSpPr/>
          <p:nvPr/>
        </p:nvSpPr>
        <p:spPr>
          <a:xfrm>
            <a:off x="640080" y="1737360"/>
            <a:ext cx="5271516" cy="365760"/>
          </a:xfrm>
          <a:prstGeom prst="rect">
            <a:avLst/>
          </a:prstGeom>
          <a:noFill/>
          <a:ln/>
        </p:spPr>
        <p:txBody>
          <a:bodyPr wrap="square" rtlCol="0" anchor="ctr"/>
          <a:lstStyle/>
          <a:p>
            <a:pPr marL="0" indent="0">
              <a:buNone/>
            </a:pPr>
            <a:r>
              <a:rPr lang="en-US" sz="1600" b="1" dirty="0">
                <a:solidFill>
                  <a:srgbClr val="0B1F3A"/>
                </a:solidFill>
                <a:latin typeface="Georgia" pitchFamily="34" charset="0"/>
                <a:ea typeface="Georgia" pitchFamily="34" charset="-122"/>
                <a:cs typeface="Georgia" pitchFamily="34" charset="-120"/>
              </a:rPr>
              <a:t>BitTorrent</a:t>
            </a:r>
            <a:endParaRPr lang="en-US" sz="1600" dirty="0"/>
          </a:p>
        </p:txBody>
      </p:sp>
      <p:sp>
        <p:nvSpPr>
          <p:cNvPr id="9" name="Text 7"/>
          <p:cNvSpPr/>
          <p:nvPr/>
        </p:nvSpPr>
        <p:spPr>
          <a:xfrm>
            <a:off x="640080" y="2103120"/>
            <a:ext cx="5271516" cy="1051560"/>
          </a:xfrm>
          <a:prstGeom prst="rect">
            <a:avLst/>
          </a:prstGeom>
          <a:noFill/>
          <a:ln/>
        </p:spPr>
        <p:txBody>
          <a:bodyPr wrap="square" rtlCol="0" anchor="t"/>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A file-sharing protocol used by hundreds of millions of people worldwide to share large files — including pirated movies and TV shows.</a:t>
            </a:r>
            <a:endParaRPr lang="en-US" sz="1100" dirty="0"/>
          </a:p>
        </p:txBody>
      </p:sp>
      <p:sp>
        <p:nvSpPr>
          <p:cNvPr id="10" name="Shape 8"/>
          <p:cNvSpPr/>
          <p:nvPr/>
        </p:nvSpPr>
        <p:spPr>
          <a:xfrm>
            <a:off x="6277356" y="1737360"/>
            <a:ext cx="54864" cy="1417320"/>
          </a:xfrm>
          <a:prstGeom prst="rect">
            <a:avLst/>
          </a:prstGeom>
          <a:solidFill>
            <a:srgbClr val="C8763C"/>
          </a:solidFill>
          <a:ln w="12700">
            <a:solidFill>
              <a:srgbClr val="C8763C"/>
            </a:solidFill>
            <a:prstDash val="solid"/>
          </a:ln>
        </p:spPr>
        <p:txBody>
          <a:bodyPr/>
          <a:lstStyle/>
          <a:p>
            <a:endParaRPr lang="en-US"/>
          </a:p>
        </p:txBody>
      </p:sp>
      <p:sp>
        <p:nvSpPr>
          <p:cNvPr id="11" name="Text 9"/>
          <p:cNvSpPr/>
          <p:nvPr/>
        </p:nvSpPr>
        <p:spPr>
          <a:xfrm>
            <a:off x="6460236" y="1737360"/>
            <a:ext cx="5271516" cy="365760"/>
          </a:xfrm>
          <a:prstGeom prst="rect">
            <a:avLst/>
          </a:prstGeom>
          <a:noFill/>
          <a:ln/>
        </p:spPr>
        <p:txBody>
          <a:bodyPr wrap="square" rtlCol="0" anchor="ctr"/>
          <a:lstStyle/>
          <a:p>
            <a:pPr marL="0" indent="0">
              <a:buNone/>
            </a:pPr>
            <a:r>
              <a:rPr lang="en-US" sz="1600" b="1" dirty="0">
                <a:solidFill>
                  <a:srgbClr val="0B1F3A"/>
                </a:solidFill>
                <a:latin typeface="Georgia" pitchFamily="34" charset="0"/>
                <a:ea typeface="Georgia" pitchFamily="34" charset="-122"/>
                <a:cs typeface="Georgia" pitchFamily="34" charset="-120"/>
              </a:rPr>
              <a:t>DHT Network</a:t>
            </a:r>
            <a:endParaRPr lang="en-US" sz="1600" dirty="0"/>
          </a:p>
        </p:txBody>
      </p:sp>
      <p:sp>
        <p:nvSpPr>
          <p:cNvPr id="12" name="Text 10"/>
          <p:cNvSpPr/>
          <p:nvPr/>
        </p:nvSpPr>
        <p:spPr>
          <a:xfrm>
            <a:off x="6460236" y="2103120"/>
            <a:ext cx="5271516" cy="1051560"/>
          </a:xfrm>
          <a:prstGeom prst="rect">
            <a:avLst/>
          </a:prstGeom>
          <a:noFill/>
          <a:ln/>
        </p:spPr>
        <p:txBody>
          <a:bodyPr wrap="square" rtlCol="0" anchor="t"/>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Distributed Hash Table — the decentralised directory that BitTorrent clients use to find each other. No central server; peers find each other directly.</a:t>
            </a:r>
            <a:endParaRPr lang="en-US" sz="1100" dirty="0"/>
          </a:p>
        </p:txBody>
      </p:sp>
      <p:sp>
        <p:nvSpPr>
          <p:cNvPr id="13" name="Shape 11"/>
          <p:cNvSpPr/>
          <p:nvPr/>
        </p:nvSpPr>
        <p:spPr>
          <a:xfrm>
            <a:off x="457200" y="3291840"/>
            <a:ext cx="54864" cy="1417320"/>
          </a:xfrm>
          <a:prstGeom prst="rect">
            <a:avLst/>
          </a:prstGeom>
          <a:solidFill>
            <a:srgbClr val="C8763C"/>
          </a:solidFill>
          <a:ln w="12700">
            <a:solidFill>
              <a:srgbClr val="C8763C"/>
            </a:solidFill>
            <a:prstDash val="solid"/>
          </a:ln>
        </p:spPr>
        <p:txBody>
          <a:bodyPr/>
          <a:lstStyle/>
          <a:p>
            <a:endParaRPr lang="en-US"/>
          </a:p>
        </p:txBody>
      </p:sp>
      <p:sp>
        <p:nvSpPr>
          <p:cNvPr id="14" name="Text 12"/>
          <p:cNvSpPr/>
          <p:nvPr/>
        </p:nvSpPr>
        <p:spPr>
          <a:xfrm>
            <a:off x="640080" y="3291840"/>
            <a:ext cx="5271516" cy="365760"/>
          </a:xfrm>
          <a:prstGeom prst="rect">
            <a:avLst/>
          </a:prstGeom>
          <a:noFill/>
          <a:ln/>
        </p:spPr>
        <p:txBody>
          <a:bodyPr wrap="square" rtlCol="0" anchor="ctr"/>
          <a:lstStyle/>
          <a:p>
            <a:pPr marL="0" indent="0">
              <a:buNone/>
            </a:pPr>
            <a:r>
              <a:rPr lang="en-US" sz="1600" b="1" dirty="0">
                <a:solidFill>
                  <a:srgbClr val="0B1F3A"/>
                </a:solidFill>
                <a:latin typeface="Georgia" pitchFamily="34" charset="0"/>
                <a:ea typeface="Georgia" pitchFamily="34" charset="-122"/>
                <a:cs typeface="Georgia" pitchFamily="34" charset="-120"/>
              </a:rPr>
              <a:t>Hash / Info Hash</a:t>
            </a:r>
            <a:endParaRPr lang="en-US" sz="1600" dirty="0"/>
          </a:p>
        </p:txBody>
      </p:sp>
      <p:sp>
        <p:nvSpPr>
          <p:cNvPr id="15" name="Text 13"/>
          <p:cNvSpPr/>
          <p:nvPr/>
        </p:nvSpPr>
        <p:spPr>
          <a:xfrm>
            <a:off x="640080" y="3657600"/>
            <a:ext cx="5271516" cy="1051560"/>
          </a:xfrm>
          <a:prstGeom prst="rect">
            <a:avLst/>
          </a:prstGeom>
          <a:noFill/>
          <a:ln/>
        </p:spPr>
        <p:txBody>
          <a:bodyPr wrap="square" rtlCol="0" anchor="t"/>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A unique 40-character code that identifies a specific torrent file. Like a fingerprint for a piece of pirated content.</a:t>
            </a:r>
            <a:endParaRPr lang="en-US" sz="1100" dirty="0"/>
          </a:p>
        </p:txBody>
      </p:sp>
      <p:sp>
        <p:nvSpPr>
          <p:cNvPr id="16" name="Shape 14"/>
          <p:cNvSpPr/>
          <p:nvPr/>
        </p:nvSpPr>
        <p:spPr>
          <a:xfrm>
            <a:off x="6277356" y="3291840"/>
            <a:ext cx="54864" cy="1417320"/>
          </a:xfrm>
          <a:prstGeom prst="rect">
            <a:avLst/>
          </a:prstGeom>
          <a:solidFill>
            <a:srgbClr val="C8763C"/>
          </a:solidFill>
          <a:ln w="12700">
            <a:solidFill>
              <a:srgbClr val="C8763C"/>
            </a:solidFill>
            <a:prstDash val="solid"/>
          </a:ln>
        </p:spPr>
        <p:txBody>
          <a:bodyPr/>
          <a:lstStyle/>
          <a:p>
            <a:endParaRPr lang="en-US"/>
          </a:p>
        </p:txBody>
      </p:sp>
      <p:sp>
        <p:nvSpPr>
          <p:cNvPr id="17" name="Text 15"/>
          <p:cNvSpPr/>
          <p:nvPr/>
        </p:nvSpPr>
        <p:spPr>
          <a:xfrm>
            <a:off x="6460236" y="3291840"/>
            <a:ext cx="5271516" cy="365760"/>
          </a:xfrm>
          <a:prstGeom prst="rect">
            <a:avLst/>
          </a:prstGeom>
          <a:noFill/>
          <a:ln/>
        </p:spPr>
        <p:txBody>
          <a:bodyPr wrap="square" rtlCol="0" anchor="ctr"/>
          <a:lstStyle/>
          <a:p>
            <a:pPr marL="0" indent="0">
              <a:buNone/>
            </a:pPr>
            <a:r>
              <a:rPr lang="en-US" sz="1600" b="1" dirty="0">
                <a:solidFill>
                  <a:srgbClr val="0B1F3A"/>
                </a:solidFill>
                <a:latin typeface="Georgia" pitchFamily="34" charset="0"/>
                <a:ea typeface="Georgia" pitchFamily="34" charset="-122"/>
                <a:cs typeface="Georgia" pitchFamily="34" charset="-120"/>
              </a:rPr>
              <a:t>Peer</a:t>
            </a:r>
            <a:endParaRPr lang="en-US" sz="1600" dirty="0"/>
          </a:p>
        </p:txBody>
      </p:sp>
      <p:sp>
        <p:nvSpPr>
          <p:cNvPr id="18" name="Text 16"/>
          <p:cNvSpPr/>
          <p:nvPr/>
        </p:nvSpPr>
        <p:spPr>
          <a:xfrm>
            <a:off x="6460236" y="3657600"/>
            <a:ext cx="5271516" cy="1051560"/>
          </a:xfrm>
          <a:prstGeom prst="rect">
            <a:avLst/>
          </a:prstGeom>
          <a:noFill/>
          <a:ln/>
        </p:spPr>
        <p:txBody>
          <a:bodyPr wrap="square" rtlCol="0" anchor="t"/>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Anyone connected to the BitTorrent network who is sharing a file. Includes both seeders (uploading) and leechers (downloading).</a:t>
            </a:r>
            <a:endParaRPr lang="en-US" sz="1100" dirty="0"/>
          </a:p>
        </p:txBody>
      </p:sp>
      <p:sp>
        <p:nvSpPr>
          <p:cNvPr id="19" name="Shape 17"/>
          <p:cNvSpPr/>
          <p:nvPr/>
        </p:nvSpPr>
        <p:spPr>
          <a:xfrm>
            <a:off x="457200" y="4846320"/>
            <a:ext cx="54864" cy="1417320"/>
          </a:xfrm>
          <a:prstGeom prst="rect">
            <a:avLst/>
          </a:prstGeom>
          <a:solidFill>
            <a:srgbClr val="C8763C"/>
          </a:solidFill>
          <a:ln w="12700">
            <a:solidFill>
              <a:srgbClr val="C8763C"/>
            </a:solidFill>
            <a:prstDash val="solid"/>
          </a:ln>
        </p:spPr>
        <p:txBody>
          <a:bodyPr/>
          <a:lstStyle/>
          <a:p>
            <a:endParaRPr lang="en-US"/>
          </a:p>
        </p:txBody>
      </p:sp>
      <p:sp>
        <p:nvSpPr>
          <p:cNvPr id="20" name="Text 18"/>
          <p:cNvSpPr/>
          <p:nvPr/>
        </p:nvSpPr>
        <p:spPr>
          <a:xfrm>
            <a:off x="640080" y="4846320"/>
            <a:ext cx="5271516" cy="365760"/>
          </a:xfrm>
          <a:prstGeom prst="rect">
            <a:avLst/>
          </a:prstGeom>
          <a:noFill/>
          <a:ln/>
        </p:spPr>
        <p:txBody>
          <a:bodyPr wrap="square" rtlCol="0" anchor="ctr"/>
          <a:lstStyle/>
          <a:p>
            <a:pPr marL="0" indent="0">
              <a:buNone/>
            </a:pPr>
            <a:r>
              <a:rPr lang="en-US" sz="1600" b="1" dirty="0">
                <a:solidFill>
                  <a:srgbClr val="0B1F3A"/>
                </a:solidFill>
                <a:latin typeface="Georgia" pitchFamily="34" charset="0"/>
                <a:ea typeface="Georgia" pitchFamily="34" charset="-122"/>
                <a:cs typeface="Georgia" pitchFamily="34" charset="-120"/>
              </a:rPr>
              <a:t>Seeder</a:t>
            </a:r>
            <a:endParaRPr lang="en-US" sz="1600" dirty="0"/>
          </a:p>
        </p:txBody>
      </p:sp>
      <p:sp>
        <p:nvSpPr>
          <p:cNvPr id="21" name="Text 19"/>
          <p:cNvSpPr/>
          <p:nvPr/>
        </p:nvSpPr>
        <p:spPr>
          <a:xfrm>
            <a:off x="640080" y="5212080"/>
            <a:ext cx="5271516" cy="1051560"/>
          </a:xfrm>
          <a:prstGeom prst="rect">
            <a:avLst/>
          </a:prstGeom>
          <a:noFill/>
          <a:ln/>
        </p:spPr>
        <p:txBody>
          <a:bodyPr wrap="square" rtlCol="0" anchor="t"/>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A peer who has the complete file and is sharing it with others.</a:t>
            </a:r>
            <a:endParaRPr lang="en-US" sz="1100" dirty="0"/>
          </a:p>
        </p:txBody>
      </p:sp>
      <p:sp>
        <p:nvSpPr>
          <p:cNvPr id="22" name="Shape 20"/>
          <p:cNvSpPr/>
          <p:nvPr/>
        </p:nvSpPr>
        <p:spPr>
          <a:xfrm>
            <a:off x="6277356" y="4846320"/>
            <a:ext cx="54864" cy="1417320"/>
          </a:xfrm>
          <a:prstGeom prst="rect">
            <a:avLst/>
          </a:prstGeom>
          <a:solidFill>
            <a:srgbClr val="C8763C"/>
          </a:solidFill>
          <a:ln w="12700">
            <a:solidFill>
              <a:srgbClr val="C8763C"/>
            </a:solidFill>
            <a:prstDash val="solid"/>
          </a:ln>
        </p:spPr>
        <p:txBody>
          <a:bodyPr/>
          <a:lstStyle/>
          <a:p>
            <a:endParaRPr lang="en-US"/>
          </a:p>
        </p:txBody>
      </p:sp>
      <p:sp>
        <p:nvSpPr>
          <p:cNvPr id="23" name="Text 21"/>
          <p:cNvSpPr/>
          <p:nvPr/>
        </p:nvSpPr>
        <p:spPr>
          <a:xfrm>
            <a:off x="6460236" y="4846320"/>
            <a:ext cx="5271516" cy="365760"/>
          </a:xfrm>
          <a:prstGeom prst="rect">
            <a:avLst/>
          </a:prstGeom>
          <a:noFill/>
          <a:ln/>
        </p:spPr>
        <p:txBody>
          <a:bodyPr wrap="square" rtlCol="0" anchor="ctr"/>
          <a:lstStyle/>
          <a:p>
            <a:pPr marL="0" indent="0">
              <a:buNone/>
            </a:pPr>
            <a:r>
              <a:rPr lang="en-US" sz="1600" b="1" dirty="0">
                <a:solidFill>
                  <a:srgbClr val="0B1F3A"/>
                </a:solidFill>
                <a:latin typeface="Georgia" pitchFamily="34" charset="0"/>
                <a:ea typeface="Georgia" pitchFamily="34" charset="-122"/>
                <a:cs typeface="Georgia" pitchFamily="34" charset="-120"/>
              </a:rPr>
              <a:t>Peer Count</a:t>
            </a:r>
            <a:endParaRPr lang="en-US" sz="1600" dirty="0"/>
          </a:p>
        </p:txBody>
      </p:sp>
      <p:sp>
        <p:nvSpPr>
          <p:cNvPr id="24" name="Text 22"/>
          <p:cNvSpPr/>
          <p:nvPr/>
        </p:nvSpPr>
        <p:spPr>
          <a:xfrm>
            <a:off x="6460236" y="5212080"/>
            <a:ext cx="5271516" cy="1051560"/>
          </a:xfrm>
          <a:prstGeom prst="rect">
            <a:avLst/>
          </a:prstGeom>
          <a:noFill/>
          <a:ln/>
        </p:spPr>
        <p:txBody>
          <a:bodyPr wrap="square" rtlCol="0" anchor="t"/>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The number of active seeders sharing a specific title at the time of our scan. Higher count = more piracy activity.</a:t>
            </a:r>
            <a:endParaRPr lang="en-US" sz="1100" dirty="0"/>
          </a:p>
        </p:txBody>
      </p:sp>
      <p:sp>
        <p:nvSpPr>
          <p:cNvPr id="25" name="Shape 23"/>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26" name="Text 24"/>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27" name="Text 25"/>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28" name="Text 26"/>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n-US"/>
          </a:p>
        </p:txBody>
      </p:sp>
      <p:sp>
        <p:nvSpPr>
          <p:cNvPr id="3" name="Text 1"/>
          <p:cNvSpPr/>
          <p:nvPr/>
        </p:nvSpPr>
        <p:spPr>
          <a:xfrm>
            <a:off x="457200" y="411480"/>
            <a:ext cx="1097280" cy="640080"/>
          </a:xfrm>
          <a:prstGeom prst="rect">
            <a:avLst/>
          </a:prstGeom>
          <a:noFill/>
          <a:ln/>
        </p:spPr>
        <p:txBody>
          <a:bodyPr wrap="square" rtlCol="0" anchor="ctr"/>
          <a:lstStyle/>
          <a:p>
            <a:pPr marL="0" indent="0">
              <a:buNone/>
            </a:pPr>
            <a:r>
              <a:rPr lang="en-US" sz="3600" i="1" dirty="0">
                <a:solidFill>
                  <a:srgbClr val="C8763C"/>
                </a:solidFill>
                <a:latin typeface="Georgia" pitchFamily="34" charset="0"/>
                <a:ea typeface="Georgia" pitchFamily="34" charset="-122"/>
                <a:cs typeface="Georgia" pitchFamily="34" charset="-120"/>
              </a:rPr>
              <a:t>09</a:t>
            </a:r>
            <a:endParaRPr lang="en-US" sz="3600" dirty="0"/>
          </a:p>
        </p:txBody>
      </p:sp>
      <p:sp>
        <p:nvSpPr>
          <p:cNvPr id="4" name="Text 2"/>
          <p:cNvSpPr/>
          <p:nvPr/>
        </p:nvSpPr>
        <p:spPr>
          <a:xfrm>
            <a:off x="1463040" y="457200"/>
            <a:ext cx="5486400" cy="274320"/>
          </a:xfrm>
          <a:prstGeom prst="rect">
            <a:avLst/>
          </a:prstGeom>
          <a:noFill/>
          <a:ln/>
        </p:spPr>
        <p:txBody>
          <a:bodyPr wrap="square" rtlCol="0" anchor="ctr"/>
          <a:lstStyle/>
          <a:p>
            <a:pPr marL="0" indent="0">
              <a:buNone/>
            </a:pPr>
            <a:r>
              <a:rPr lang="en-US" sz="900" b="1" kern="0" spc="600" dirty="0">
                <a:solidFill>
                  <a:srgbClr val="5A5A5A"/>
                </a:solidFill>
                <a:latin typeface="Calibri" pitchFamily="34" charset="0"/>
                <a:ea typeface="Calibri" pitchFamily="34" charset="-122"/>
                <a:cs typeface="Calibri" pitchFamily="34" charset="-120"/>
              </a:rPr>
              <a:t>TERMS YOU WILL HEAR US USE</a:t>
            </a:r>
            <a:endParaRPr lang="en-US" sz="900" dirty="0"/>
          </a:p>
        </p:txBody>
      </p:sp>
      <p:sp>
        <p:nvSpPr>
          <p:cNvPr id="5" name="Text 3"/>
          <p:cNvSpPr/>
          <p:nvPr/>
        </p:nvSpPr>
        <p:spPr>
          <a:xfrm>
            <a:off x="1417320" y="713232"/>
            <a:ext cx="10058400" cy="548640"/>
          </a:xfrm>
          <a:prstGeom prst="rect">
            <a:avLst/>
          </a:prstGeom>
          <a:noFill/>
          <a:ln/>
        </p:spPr>
        <p:txBody>
          <a:bodyPr wrap="square" rtlCol="0" anchor="ctr"/>
          <a:lstStyle/>
          <a:p>
            <a:pPr marL="0" indent="0">
              <a:buNone/>
            </a:pPr>
            <a:r>
              <a:rPr lang="en-US" sz="2600" b="1" dirty="0">
                <a:solidFill>
                  <a:srgbClr val="0B1F3A"/>
                </a:solidFill>
                <a:latin typeface="Georgia" pitchFamily="34" charset="0"/>
                <a:ea typeface="Georgia" pitchFamily="34" charset="-122"/>
                <a:cs typeface="Georgia" pitchFamily="34" charset="-120"/>
              </a:rPr>
              <a:t>Glossary  ·  Part II</a:t>
            </a:r>
            <a:endParaRPr lang="en-US" sz="2600" dirty="0"/>
          </a:p>
        </p:txBody>
      </p:sp>
      <p:sp>
        <p:nvSpPr>
          <p:cNvPr id="6" name="Shape 4"/>
          <p:cNvSpPr/>
          <p:nvPr/>
        </p:nvSpPr>
        <p:spPr>
          <a:xfrm>
            <a:off x="457200" y="1417320"/>
            <a:ext cx="11274552" cy="0"/>
          </a:xfrm>
          <a:prstGeom prst="line">
            <a:avLst/>
          </a:prstGeom>
          <a:noFill/>
          <a:ln w="9525">
            <a:solidFill>
              <a:srgbClr val="D8D2C7"/>
            </a:solidFill>
            <a:prstDash val="solid"/>
          </a:ln>
        </p:spPr>
        <p:txBody>
          <a:bodyPr/>
          <a:lstStyle/>
          <a:p>
            <a:endParaRPr lang="en-US"/>
          </a:p>
        </p:txBody>
      </p:sp>
      <p:sp>
        <p:nvSpPr>
          <p:cNvPr id="7" name="Shape 5"/>
          <p:cNvSpPr/>
          <p:nvPr/>
        </p:nvSpPr>
        <p:spPr>
          <a:xfrm>
            <a:off x="457200" y="1737360"/>
            <a:ext cx="54864" cy="868680"/>
          </a:xfrm>
          <a:prstGeom prst="rect">
            <a:avLst/>
          </a:prstGeom>
          <a:solidFill>
            <a:srgbClr val="C8763C"/>
          </a:solidFill>
          <a:ln w="12700">
            <a:solidFill>
              <a:srgbClr val="C8763C"/>
            </a:solidFill>
            <a:prstDash val="solid"/>
          </a:ln>
        </p:spPr>
        <p:txBody>
          <a:bodyPr/>
          <a:lstStyle/>
          <a:p>
            <a:endParaRPr lang="en-US"/>
          </a:p>
        </p:txBody>
      </p:sp>
      <p:sp>
        <p:nvSpPr>
          <p:cNvPr id="8" name="Text 6"/>
          <p:cNvSpPr/>
          <p:nvPr/>
        </p:nvSpPr>
        <p:spPr>
          <a:xfrm>
            <a:off x="685800" y="1737360"/>
            <a:ext cx="2194560" cy="868680"/>
          </a:xfrm>
          <a:prstGeom prst="rect">
            <a:avLst/>
          </a:prstGeom>
          <a:noFill/>
          <a:ln/>
        </p:spPr>
        <p:txBody>
          <a:bodyPr wrap="square" rtlCol="0" anchor="ctr"/>
          <a:lstStyle/>
          <a:p>
            <a:pPr marL="0" indent="0">
              <a:buNone/>
            </a:pPr>
            <a:r>
              <a:rPr lang="en-US" sz="1700" b="1" dirty="0">
                <a:solidFill>
                  <a:srgbClr val="0B1F3A"/>
                </a:solidFill>
                <a:latin typeface="Georgia" pitchFamily="34" charset="0"/>
                <a:ea typeface="Georgia" pitchFamily="34" charset="-122"/>
                <a:cs typeface="Georgia" pitchFamily="34" charset="-120"/>
              </a:rPr>
              <a:t>GeoIP</a:t>
            </a:r>
            <a:endParaRPr lang="en-US" sz="1700" dirty="0"/>
          </a:p>
        </p:txBody>
      </p:sp>
      <p:sp>
        <p:nvSpPr>
          <p:cNvPr id="9" name="Shape 7"/>
          <p:cNvSpPr/>
          <p:nvPr/>
        </p:nvSpPr>
        <p:spPr>
          <a:xfrm>
            <a:off x="2971800" y="1828800"/>
            <a:ext cx="0" cy="685800"/>
          </a:xfrm>
          <a:prstGeom prst="line">
            <a:avLst/>
          </a:prstGeom>
          <a:noFill/>
          <a:ln w="6350">
            <a:solidFill>
              <a:srgbClr val="D8D2C7"/>
            </a:solidFill>
            <a:prstDash val="solid"/>
          </a:ln>
        </p:spPr>
        <p:txBody>
          <a:bodyPr/>
          <a:lstStyle/>
          <a:p>
            <a:endParaRPr lang="en-US"/>
          </a:p>
        </p:txBody>
      </p:sp>
      <p:sp>
        <p:nvSpPr>
          <p:cNvPr id="10" name="Text 8"/>
          <p:cNvSpPr/>
          <p:nvPr/>
        </p:nvSpPr>
        <p:spPr>
          <a:xfrm>
            <a:off x="3154680" y="1737360"/>
            <a:ext cx="8531352" cy="868680"/>
          </a:xfrm>
          <a:prstGeom prst="rect">
            <a:avLst/>
          </a:prstGeom>
          <a:noFill/>
          <a:ln/>
        </p:spPr>
        <p:txBody>
          <a:bodyPr wrap="square" rtlCol="0" anchor="ctr"/>
          <a:lstStyle/>
          <a:p>
            <a:pPr marL="0" indent="0">
              <a:lnSpc>
                <a:spcPct val="135000"/>
              </a:lnSpc>
              <a:buNone/>
            </a:pPr>
            <a:r>
              <a:rPr lang="en-US" sz="1200" dirty="0">
                <a:solidFill>
                  <a:srgbClr val="1A1A1A"/>
                </a:solidFill>
                <a:latin typeface="Calibri" pitchFamily="34" charset="0"/>
                <a:ea typeface="Calibri" pitchFamily="34" charset="-122"/>
                <a:cs typeface="Calibri" pitchFamily="34" charset="-120"/>
              </a:rPr>
              <a:t>The process of determining a country from an IP address using a lookup database.</a:t>
            </a:r>
            <a:endParaRPr lang="en-US" sz="1200" dirty="0"/>
          </a:p>
        </p:txBody>
      </p:sp>
      <p:sp>
        <p:nvSpPr>
          <p:cNvPr id="11" name="Shape 9"/>
          <p:cNvSpPr/>
          <p:nvPr/>
        </p:nvSpPr>
        <p:spPr>
          <a:xfrm>
            <a:off x="457200" y="2679192"/>
            <a:ext cx="54864" cy="868680"/>
          </a:xfrm>
          <a:prstGeom prst="rect">
            <a:avLst/>
          </a:prstGeom>
          <a:solidFill>
            <a:srgbClr val="C8763C"/>
          </a:solidFill>
          <a:ln w="12700">
            <a:solidFill>
              <a:srgbClr val="C8763C"/>
            </a:solidFill>
            <a:prstDash val="solid"/>
          </a:ln>
        </p:spPr>
        <p:txBody>
          <a:bodyPr/>
          <a:lstStyle/>
          <a:p>
            <a:endParaRPr lang="en-US"/>
          </a:p>
        </p:txBody>
      </p:sp>
      <p:sp>
        <p:nvSpPr>
          <p:cNvPr id="12" name="Text 10"/>
          <p:cNvSpPr/>
          <p:nvPr/>
        </p:nvSpPr>
        <p:spPr>
          <a:xfrm>
            <a:off x="685800" y="2679192"/>
            <a:ext cx="2194560" cy="868680"/>
          </a:xfrm>
          <a:prstGeom prst="rect">
            <a:avLst/>
          </a:prstGeom>
          <a:noFill/>
          <a:ln/>
        </p:spPr>
        <p:txBody>
          <a:bodyPr wrap="square" rtlCol="0" anchor="ctr"/>
          <a:lstStyle/>
          <a:p>
            <a:pPr marL="0" indent="0">
              <a:buNone/>
            </a:pPr>
            <a:r>
              <a:rPr lang="en-US" sz="1700" b="1" dirty="0">
                <a:solidFill>
                  <a:srgbClr val="0B1F3A"/>
                </a:solidFill>
                <a:latin typeface="Georgia" pitchFamily="34" charset="0"/>
                <a:ea typeface="Georgia" pitchFamily="34" charset="-122"/>
                <a:cs typeface="Georgia" pitchFamily="34" charset="-120"/>
              </a:rPr>
              <a:t>BEP-51</a:t>
            </a:r>
            <a:endParaRPr lang="en-US" sz="1700" dirty="0"/>
          </a:p>
        </p:txBody>
      </p:sp>
      <p:sp>
        <p:nvSpPr>
          <p:cNvPr id="13" name="Shape 11"/>
          <p:cNvSpPr/>
          <p:nvPr/>
        </p:nvSpPr>
        <p:spPr>
          <a:xfrm>
            <a:off x="2971800" y="2770632"/>
            <a:ext cx="0" cy="685800"/>
          </a:xfrm>
          <a:prstGeom prst="line">
            <a:avLst/>
          </a:prstGeom>
          <a:noFill/>
          <a:ln w="6350">
            <a:solidFill>
              <a:srgbClr val="D8D2C7"/>
            </a:solidFill>
            <a:prstDash val="solid"/>
          </a:ln>
        </p:spPr>
        <p:txBody>
          <a:bodyPr/>
          <a:lstStyle/>
          <a:p>
            <a:endParaRPr lang="en-US"/>
          </a:p>
        </p:txBody>
      </p:sp>
      <p:sp>
        <p:nvSpPr>
          <p:cNvPr id="14" name="Text 12"/>
          <p:cNvSpPr/>
          <p:nvPr/>
        </p:nvSpPr>
        <p:spPr>
          <a:xfrm>
            <a:off x="3154680" y="2679192"/>
            <a:ext cx="8531352" cy="868680"/>
          </a:xfrm>
          <a:prstGeom prst="rect">
            <a:avLst/>
          </a:prstGeom>
          <a:noFill/>
          <a:ln/>
        </p:spPr>
        <p:txBody>
          <a:bodyPr wrap="square" rtlCol="0" anchor="ctr"/>
          <a:lstStyle/>
          <a:p>
            <a:pPr marL="0" indent="0">
              <a:lnSpc>
                <a:spcPct val="135000"/>
              </a:lnSpc>
              <a:buNone/>
            </a:pPr>
            <a:r>
              <a:rPr lang="en-US" sz="1200" dirty="0">
                <a:solidFill>
                  <a:srgbClr val="1A1A1A"/>
                </a:solidFill>
                <a:latin typeface="Calibri" pitchFamily="34" charset="0"/>
                <a:ea typeface="Calibri" pitchFamily="34" charset="-122"/>
                <a:cs typeface="Calibri" pitchFamily="34" charset="-120"/>
              </a:rPr>
              <a:t>A BitTorrent protocol extension that lets us ask DHT nodes to show us random samples of hashes they store — used to discover brand-new pirated content.</a:t>
            </a:r>
            <a:endParaRPr lang="en-US" sz="1200" dirty="0"/>
          </a:p>
        </p:txBody>
      </p:sp>
      <p:sp>
        <p:nvSpPr>
          <p:cNvPr id="15" name="Shape 13"/>
          <p:cNvSpPr/>
          <p:nvPr/>
        </p:nvSpPr>
        <p:spPr>
          <a:xfrm>
            <a:off x="457200" y="3621024"/>
            <a:ext cx="54864" cy="868680"/>
          </a:xfrm>
          <a:prstGeom prst="rect">
            <a:avLst/>
          </a:prstGeom>
          <a:solidFill>
            <a:srgbClr val="C8763C"/>
          </a:solidFill>
          <a:ln w="12700">
            <a:solidFill>
              <a:srgbClr val="C8763C"/>
            </a:solidFill>
            <a:prstDash val="solid"/>
          </a:ln>
        </p:spPr>
        <p:txBody>
          <a:bodyPr/>
          <a:lstStyle/>
          <a:p>
            <a:endParaRPr lang="en-US"/>
          </a:p>
        </p:txBody>
      </p:sp>
      <p:sp>
        <p:nvSpPr>
          <p:cNvPr id="16" name="Text 14"/>
          <p:cNvSpPr/>
          <p:nvPr/>
        </p:nvSpPr>
        <p:spPr>
          <a:xfrm>
            <a:off x="685800" y="3621024"/>
            <a:ext cx="2194560" cy="868680"/>
          </a:xfrm>
          <a:prstGeom prst="rect">
            <a:avLst/>
          </a:prstGeom>
          <a:noFill/>
          <a:ln/>
        </p:spPr>
        <p:txBody>
          <a:bodyPr wrap="square" rtlCol="0" anchor="ctr"/>
          <a:lstStyle/>
          <a:p>
            <a:pPr marL="0" indent="0">
              <a:buNone/>
            </a:pPr>
            <a:r>
              <a:rPr lang="en-US" sz="1700" b="1" dirty="0">
                <a:solidFill>
                  <a:srgbClr val="0B1F3A"/>
                </a:solidFill>
                <a:latin typeface="Georgia" pitchFamily="34" charset="0"/>
                <a:ea typeface="Georgia" pitchFamily="34" charset="-122"/>
                <a:cs typeface="Georgia" pitchFamily="34" charset="-120"/>
              </a:rPr>
              <a:t>Parquet</a:t>
            </a:r>
            <a:endParaRPr lang="en-US" sz="1700" dirty="0"/>
          </a:p>
        </p:txBody>
      </p:sp>
      <p:sp>
        <p:nvSpPr>
          <p:cNvPr id="17" name="Shape 15"/>
          <p:cNvSpPr/>
          <p:nvPr/>
        </p:nvSpPr>
        <p:spPr>
          <a:xfrm>
            <a:off x="2971800" y="3712464"/>
            <a:ext cx="0" cy="685800"/>
          </a:xfrm>
          <a:prstGeom prst="line">
            <a:avLst/>
          </a:prstGeom>
          <a:noFill/>
          <a:ln w="6350">
            <a:solidFill>
              <a:srgbClr val="D8D2C7"/>
            </a:solidFill>
            <a:prstDash val="solid"/>
          </a:ln>
        </p:spPr>
        <p:txBody>
          <a:bodyPr/>
          <a:lstStyle/>
          <a:p>
            <a:endParaRPr lang="en-US"/>
          </a:p>
        </p:txBody>
      </p:sp>
      <p:sp>
        <p:nvSpPr>
          <p:cNvPr id="18" name="Text 16"/>
          <p:cNvSpPr/>
          <p:nvPr/>
        </p:nvSpPr>
        <p:spPr>
          <a:xfrm>
            <a:off x="3154680" y="3621024"/>
            <a:ext cx="8531352" cy="868680"/>
          </a:xfrm>
          <a:prstGeom prst="rect">
            <a:avLst/>
          </a:prstGeom>
          <a:noFill/>
          <a:ln/>
        </p:spPr>
        <p:txBody>
          <a:bodyPr wrap="square" rtlCol="0" anchor="ctr"/>
          <a:lstStyle/>
          <a:p>
            <a:pPr marL="0" indent="0">
              <a:lnSpc>
                <a:spcPct val="135000"/>
              </a:lnSpc>
              <a:buNone/>
            </a:pPr>
            <a:r>
              <a:rPr lang="en-US" sz="1200" dirty="0">
                <a:solidFill>
                  <a:srgbClr val="1A1A1A"/>
                </a:solidFill>
                <a:latin typeface="Calibri" pitchFamily="34" charset="0"/>
                <a:ea typeface="Calibri" pitchFamily="34" charset="-122"/>
                <a:cs typeface="Calibri" pitchFamily="34" charset="-120"/>
              </a:rPr>
              <a:t>A compressed, column-based file format used for analytics. Our daily output files are stored in this format on S3.</a:t>
            </a:r>
            <a:endParaRPr lang="en-US" sz="1200" dirty="0"/>
          </a:p>
        </p:txBody>
      </p:sp>
      <p:sp>
        <p:nvSpPr>
          <p:cNvPr id="19" name="Shape 17"/>
          <p:cNvSpPr/>
          <p:nvPr/>
        </p:nvSpPr>
        <p:spPr>
          <a:xfrm>
            <a:off x="457200" y="4562856"/>
            <a:ext cx="54864" cy="868680"/>
          </a:xfrm>
          <a:prstGeom prst="rect">
            <a:avLst/>
          </a:prstGeom>
          <a:solidFill>
            <a:srgbClr val="C8763C"/>
          </a:solidFill>
          <a:ln w="12700">
            <a:solidFill>
              <a:srgbClr val="C8763C"/>
            </a:solidFill>
            <a:prstDash val="solid"/>
          </a:ln>
        </p:spPr>
        <p:txBody>
          <a:bodyPr/>
          <a:lstStyle/>
          <a:p>
            <a:endParaRPr lang="en-US"/>
          </a:p>
        </p:txBody>
      </p:sp>
      <p:sp>
        <p:nvSpPr>
          <p:cNvPr id="20" name="Text 18"/>
          <p:cNvSpPr/>
          <p:nvPr/>
        </p:nvSpPr>
        <p:spPr>
          <a:xfrm>
            <a:off x="685800" y="4562856"/>
            <a:ext cx="2194560" cy="868680"/>
          </a:xfrm>
          <a:prstGeom prst="rect">
            <a:avLst/>
          </a:prstGeom>
          <a:noFill/>
          <a:ln/>
        </p:spPr>
        <p:txBody>
          <a:bodyPr wrap="square" rtlCol="0" anchor="ctr"/>
          <a:lstStyle/>
          <a:p>
            <a:pPr marL="0" indent="0">
              <a:buNone/>
            </a:pPr>
            <a:r>
              <a:rPr lang="en-US" sz="1700" b="1" dirty="0">
                <a:solidFill>
                  <a:srgbClr val="0B1F3A"/>
                </a:solidFill>
                <a:latin typeface="Georgia" pitchFamily="34" charset="0"/>
                <a:ea typeface="Georgia" pitchFamily="34" charset="-122"/>
                <a:cs typeface="Georgia" pitchFamily="34" charset="-120"/>
              </a:rPr>
              <a:t>S3</a:t>
            </a:r>
            <a:endParaRPr lang="en-US" sz="1700" dirty="0"/>
          </a:p>
        </p:txBody>
      </p:sp>
      <p:sp>
        <p:nvSpPr>
          <p:cNvPr id="21" name="Shape 19"/>
          <p:cNvSpPr/>
          <p:nvPr/>
        </p:nvSpPr>
        <p:spPr>
          <a:xfrm>
            <a:off x="2971800" y="4654296"/>
            <a:ext cx="0" cy="685800"/>
          </a:xfrm>
          <a:prstGeom prst="line">
            <a:avLst/>
          </a:prstGeom>
          <a:noFill/>
          <a:ln w="6350">
            <a:solidFill>
              <a:srgbClr val="D8D2C7"/>
            </a:solidFill>
            <a:prstDash val="solid"/>
          </a:ln>
        </p:spPr>
        <p:txBody>
          <a:bodyPr/>
          <a:lstStyle/>
          <a:p>
            <a:endParaRPr lang="en-US"/>
          </a:p>
        </p:txBody>
      </p:sp>
      <p:sp>
        <p:nvSpPr>
          <p:cNvPr id="22" name="Text 20"/>
          <p:cNvSpPr/>
          <p:nvPr/>
        </p:nvSpPr>
        <p:spPr>
          <a:xfrm>
            <a:off x="3154680" y="4562856"/>
            <a:ext cx="8531352" cy="868680"/>
          </a:xfrm>
          <a:prstGeom prst="rect">
            <a:avLst/>
          </a:prstGeom>
          <a:noFill/>
          <a:ln/>
        </p:spPr>
        <p:txBody>
          <a:bodyPr wrap="square" rtlCol="0" anchor="ctr"/>
          <a:lstStyle/>
          <a:p>
            <a:pPr marL="0" indent="0">
              <a:lnSpc>
                <a:spcPct val="135000"/>
              </a:lnSpc>
              <a:buNone/>
            </a:pPr>
            <a:r>
              <a:rPr lang="en-US" sz="1200" dirty="0">
                <a:solidFill>
                  <a:srgbClr val="1A1A1A"/>
                </a:solidFill>
                <a:latin typeface="Calibri" pitchFamily="34" charset="0"/>
                <a:ea typeface="Calibri" pitchFamily="34" charset="-122"/>
                <a:cs typeface="Calibri" pitchFamily="34" charset="-120"/>
              </a:rPr>
              <a:t>Amazon Simple Storage Service — cloud file storage where our daily output files are archived.</a:t>
            </a:r>
            <a:endParaRPr lang="en-US" sz="1200" dirty="0"/>
          </a:p>
        </p:txBody>
      </p:sp>
      <p:sp>
        <p:nvSpPr>
          <p:cNvPr id="23" name="Shape 21"/>
          <p:cNvSpPr/>
          <p:nvPr/>
        </p:nvSpPr>
        <p:spPr>
          <a:xfrm>
            <a:off x="457200" y="5504688"/>
            <a:ext cx="54864" cy="868680"/>
          </a:xfrm>
          <a:prstGeom prst="rect">
            <a:avLst/>
          </a:prstGeom>
          <a:solidFill>
            <a:srgbClr val="C8763C"/>
          </a:solidFill>
          <a:ln w="12700">
            <a:solidFill>
              <a:srgbClr val="C8763C"/>
            </a:solidFill>
            <a:prstDash val="solid"/>
          </a:ln>
        </p:spPr>
        <p:txBody>
          <a:bodyPr/>
          <a:lstStyle/>
          <a:p>
            <a:endParaRPr lang="en-US"/>
          </a:p>
        </p:txBody>
      </p:sp>
      <p:sp>
        <p:nvSpPr>
          <p:cNvPr id="24" name="Text 22"/>
          <p:cNvSpPr/>
          <p:nvPr/>
        </p:nvSpPr>
        <p:spPr>
          <a:xfrm>
            <a:off x="685800" y="5504688"/>
            <a:ext cx="2194560" cy="868680"/>
          </a:xfrm>
          <a:prstGeom prst="rect">
            <a:avLst/>
          </a:prstGeom>
          <a:noFill/>
          <a:ln/>
        </p:spPr>
        <p:txBody>
          <a:bodyPr wrap="square" rtlCol="0" anchor="ctr"/>
          <a:lstStyle/>
          <a:p>
            <a:pPr marL="0" indent="0">
              <a:buNone/>
            </a:pPr>
            <a:r>
              <a:rPr lang="en-US" sz="1700" b="1" dirty="0">
                <a:solidFill>
                  <a:srgbClr val="0B1F3A"/>
                </a:solidFill>
                <a:latin typeface="Georgia" pitchFamily="34" charset="0"/>
                <a:ea typeface="Georgia" pitchFamily="34" charset="-122"/>
                <a:cs typeface="Georgia" pitchFamily="34" charset="-120"/>
              </a:rPr>
              <a:t>Athena</a:t>
            </a:r>
            <a:endParaRPr lang="en-US" sz="1700" dirty="0"/>
          </a:p>
        </p:txBody>
      </p:sp>
      <p:sp>
        <p:nvSpPr>
          <p:cNvPr id="25" name="Shape 23"/>
          <p:cNvSpPr/>
          <p:nvPr/>
        </p:nvSpPr>
        <p:spPr>
          <a:xfrm>
            <a:off x="2971800" y="5596128"/>
            <a:ext cx="0" cy="685800"/>
          </a:xfrm>
          <a:prstGeom prst="line">
            <a:avLst/>
          </a:prstGeom>
          <a:noFill/>
          <a:ln w="6350">
            <a:solidFill>
              <a:srgbClr val="D8D2C7"/>
            </a:solidFill>
            <a:prstDash val="solid"/>
          </a:ln>
        </p:spPr>
        <p:txBody>
          <a:bodyPr/>
          <a:lstStyle/>
          <a:p>
            <a:endParaRPr lang="en-US"/>
          </a:p>
        </p:txBody>
      </p:sp>
      <p:sp>
        <p:nvSpPr>
          <p:cNvPr id="26" name="Text 24"/>
          <p:cNvSpPr/>
          <p:nvPr/>
        </p:nvSpPr>
        <p:spPr>
          <a:xfrm>
            <a:off x="3154680" y="5504688"/>
            <a:ext cx="8531352" cy="868680"/>
          </a:xfrm>
          <a:prstGeom prst="rect">
            <a:avLst/>
          </a:prstGeom>
          <a:noFill/>
          <a:ln/>
        </p:spPr>
        <p:txBody>
          <a:bodyPr wrap="square" rtlCol="0" anchor="ctr"/>
          <a:lstStyle/>
          <a:p>
            <a:pPr marL="0" indent="0">
              <a:lnSpc>
                <a:spcPct val="135000"/>
              </a:lnSpc>
              <a:buNone/>
            </a:pPr>
            <a:r>
              <a:rPr lang="en-US" sz="1200" dirty="0">
                <a:solidFill>
                  <a:srgbClr val="1A1A1A"/>
                </a:solidFill>
                <a:latin typeface="Calibri" pitchFamily="34" charset="0"/>
                <a:ea typeface="Calibri" pitchFamily="34" charset="-122"/>
                <a:cs typeface="Calibri" pitchFamily="34" charset="-120"/>
              </a:rPr>
              <a:t>AWS analytics tool that allows SQL queries directly on files stored in S3, without needing a traditional database.</a:t>
            </a:r>
            <a:endParaRPr lang="en-US" sz="1200" dirty="0"/>
          </a:p>
        </p:txBody>
      </p:sp>
      <p:sp>
        <p:nvSpPr>
          <p:cNvPr id="27" name="Shape 25"/>
          <p:cNvSpPr/>
          <p:nvPr/>
        </p:nvSpPr>
        <p:spPr>
          <a:xfrm>
            <a:off x="457200" y="6355080"/>
            <a:ext cx="11274552" cy="0"/>
          </a:xfrm>
          <a:prstGeom prst="line">
            <a:avLst/>
          </a:prstGeom>
          <a:noFill/>
          <a:ln w="6350">
            <a:solidFill>
              <a:srgbClr val="D8D2C7"/>
            </a:solidFill>
            <a:prstDash val="solid"/>
          </a:ln>
        </p:spPr>
        <p:txBody>
          <a:bodyPr/>
          <a:lstStyle/>
          <a:p>
            <a:endParaRPr lang="en-US"/>
          </a:p>
        </p:txBody>
      </p:sp>
      <p:sp>
        <p:nvSpPr>
          <p:cNvPr id="28" name="Text 26"/>
          <p:cNvSpPr/>
          <p:nvPr/>
        </p:nvSpPr>
        <p:spPr>
          <a:xfrm>
            <a:off x="457200" y="6446520"/>
            <a:ext cx="2743200" cy="274320"/>
          </a:xfrm>
          <a:prstGeom prst="rect">
            <a:avLst/>
          </a:prstGeom>
          <a:noFill/>
          <a:ln/>
        </p:spPr>
        <p:txBody>
          <a:bodyPr wrap="square" rtlCol="0" anchor="ctr"/>
          <a:lstStyle/>
          <a:p>
            <a:pPr marL="0" indent="0">
              <a:buNone/>
            </a:pPr>
            <a:r>
              <a:rPr lang="en-US" sz="900" b="1" kern="0" spc="600" dirty="0">
                <a:solidFill>
                  <a:srgbClr val="8A8275"/>
                </a:solidFill>
                <a:latin typeface="Georgia" pitchFamily="34" charset="0"/>
                <a:ea typeface="Georgia" pitchFamily="34" charset="-122"/>
                <a:cs typeface="Georgia" pitchFamily="34" charset="-120"/>
              </a:rPr>
              <a:t>PANTHEON</a:t>
            </a:r>
            <a:endParaRPr lang="en-US" sz="900" dirty="0"/>
          </a:p>
        </p:txBody>
      </p:sp>
      <p:sp>
        <p:nvSpPr>
          <p:cNvPr id="29" name="Text 27"/>
          <p:cNvSpPr/>
          <p:nvPr/>
        </p:nvSpPr>
        <p:spPr>
          <a:xfrm>
            <a:off x="3808476" y="6446520"/>
            <a:ext cx="4572000" cy="274320"/>
          </a:xfrm>
          <a:prstGeom prst="rect">
            <a:avLst/>
          </a:prstGeom>
          <a:noFill/>
          <a:ln/>
        </p:spPr>
        <p:txBody>
          <a:bodyPr wrap="square" rtlCol="0" anchor="ctr"/>
          <a:lstStyle/>
          <a:p>
            <a:pPr marL="0" indent="0" algn="ctr">
              <a:buNone/>
            </a:pPr>
            <a:r>
              <a:rPr lang="en-US" sz="900" i="1" dirty="0">
                <a:solidFill>
                  <a:srgbClr val="8A8275"/>
                </a:solidFill>
                <a:latin typeface="Calibri" pitchFamily="34" charset="0"/>
                <a:ea typeface="Calibri" pitchFamily="34" charset="-122"/>
                <a:cs typeface="Calibri" pitchFamily="34" charset="-120"/>
              </a:rPr>
              <a:t>Piracy Intelligence  ·  May 2026</a:t>
            </a:r>
            <a:endParaRPr lang="en-US" sz="900" dirty="0"/>
          </a:p>
        </p:txBody>
      </p:sp>
      <p:sp>
        <p:nvSpPr>
          <p:cNvPr id="30" name="Text 28"/>
          <p:cNvSpPr/>
          <p:nvPr/>
        </p:nvSpPr>
        <p:spPr>
          <a:xfrm>
            <a:off x="10634472" y="6446520"/>
            <a:ext cx="1097280" cy="274320"/>
          </a:xfrm>
          <a:prstGeom prst="rect">
            <a:avLst/>
          </a:prstGeom>
          <a:noFill/>
          <a:ln/>
        </p:spPr>
        <p:txBody>
          <a:bodyPr wrap="square" rtlCol="0" anchor="ctr"/>
          <a:lstStyle/>
          <a:p>
            <a:pPr marL="0" indent="0" algn="r">
              <a:buNone/>
            </a:pPr>
            <a:r>
              <a:rPr lang="en-US" sz="900" dirty="0">
                <a:solidFill>
                  <a:srgbClr val="8A8275"/>
                </a:solidFill>
                <a:latin typeface="Consolas" pitchFamily="34" charset="0"/>
                <a:ea typeface="Consolas" pitchFamily="34" charset="-122"/>
                <a:cs typeface="Consolas"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w="12700">
            <a:solidFill>
              <a:srgbClr val="0B1F3A"/>
            </a:solidFill>
            <a:prstDash val="solid"/>
          </a:ln>
        </p:spPr>
        <p:txBody>
          <a:bodyPr/>
          <a:lstStyle/>
          <a:p>
            <a:endParaRPr lang="en-US"/>
          </a:p>
        </p:txBody>
      </p:sp>
      <p:sp>
        <p:nvSpPr>
          <p:cNvPr id="3" name="Shape 1"/>
          <p:cNvSpPr/>
          <p:nvPr/>
        </p:nvSpPr>
        <p:spPr>
          <a:xfrm>
            <a:off x="0" y="0"/>
            <a:ext cx="164592" cy="6858000"/>
          </a:xfrm>
          <a:prstGeom prst="rect">
            <a:avLst/>
          </a:prstGeom>
          <a:solidFill>
            <a:srgbClr val="C8763C"/>
          </a:solidFill>
          <a:ln w="12700">
            <a:solidFill>
              <a:srgbClr val="C8763C"/>
            </a:solidFill>
            <a:prstDash val="solid"/>
          </a:ln>
        </p:spPr>
        <p:txBody>
          <a:bodyPr/>
          <a:lstStyle/>
          <a:p>
            <a:endParaRPr lang="en-US"/>
          </a:p>
        </p:txBody>
      </p:sp>
      <p:sp>
        <p:nvSpPr>
          <p:cNvPr id="4" name="Text 2"/>
          <p:cNvSpPr/>
          <p:nvPr/>
        </p:nvSpPr>
        <p:spPr>
          <a:xfrm>
            <a:off x="822960" y="1280160"/>
            <a:ext cx="7315200" cy="274320"/>
          </a:xfrm>
          <a:prstGeom prst="rect">
            <a:avLst/>
          </a:prstGeom>
          <a:noFill/>
          <a:ln/>
        </p:spPr>
        <p:txBody>
          <a:bodyPr wrap="square" rtlCol="0" anchor="ctr"/>
          <a:lstStyle/>
          <a:p>
            <a:pPr marL="0" indent="0">
              <a:buNone/>
            </a:pPr>
            <a:r>
              <a:rPr lang="en-US" sz="1000" b="1" kern="0" spc="800" dirty="0">
                <a:solidFill>
                  <a:srgbClr val="C8763C"/>
                </a:solidFill>
                <a:latin typeface="Calibri" pitchFamily="34" charset="0"/>
                <a:ea typeface="Calibri" pitchFamily="34" charset="-122"/>
                <a:cs typeface="Calibri" pitchFamily="34" charset="-120"/>
              </a:rPr>
              <a:t>IN CLOSING</a:t>
            </a:r>
            <a:endParaRPr lang="en-US" sz="1000" dirty="0"/>
          </a:p>
        </p:txBody>
      </p:sp>
      <p:sp>
        <p:nvSpPr>
          <p:cNvPr id="5" name="Text 3"/>
          <p:cNvSpPr/>
          <p:nvPr/>
        </p:nvSpPr>
        <p:spPr>
          <a:xfrm>
            <a:off x="822960" y="1783080"/>
            <a:ext cx="10515600" cy="1005840"/>
          </a:xfrm>
          <a:prstGeom prst="rect">
            <a:avLst/>
          </a:prstGeom>
          <a:noFill/>
          <a:ln/>
        </p:spPr>
        <p:txBody>
          <a:bodyPr wrap="square"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Built to run</a:t>
            </a:r>
            <a:endParaRPr lang="en-US" sz="6400" dirty="0"/>
          </a:p>
        </p:txBody>
      </p:sp>
      <p:sp>
        <p:nvSpPr>
          <p:cNvPr id="6" name="Text 4"/>
          <p:cNvSpPr/>
          <p:nvPr/>
        </p:nvSpPr>
        <p:spPr>
          <a:xfrm>
            <a:off x="822960" y="2606040"/>
            <a:ext cx="10515600" cy="1005840"/>
          </a:xfrm>
          <a:prstGeom prst="rect">
            <a:avLst/>
          </a:prstGeom>
          <a:noFill/>
          <a:ln/>
        </p:spPr>
        <p:txBody>
          <a:bodyPr wrap="square"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on its own.</a:t>
            </a:r>
            <a:endParaRPr lang="en-US" sz="6400" dirty="0"/>
          </a:p>
        </p:txBody>
      </p:sp>
      <p:sp>
        <p:nvSpPr>
          <p:cNvPr id="7" name="Shape 5"/>
          <p:cNvSpPr/>
          <p:nvPr/>
        </p:nvSpPr>
        <p:spPr>
          <a:xfrm>
            <a:off x="822960" y="3703320"/>
            <a:ext cx="2286000" cy="0"/>
          </a:xfrm>
          <a:prstGeom prst="line">
            <a:avLst/>
          </a:prstGeom>
          <a:noFill/>
          <a:ln w="19050">
            <a:solidFill>
              <a:srgbClr val="C8763C"/>
            </a:solidFill>
            <a:prstDash val="solid"/>
          </a:ln>
        </p:spPr>
        <p:txBody>
          <a:bodyPr/>
          <a:lstStyle/>
          <a:p>
            <a:endParaRPr lang="en-US"/>
          </a:p>
        </p:txBody>
      </p:sp>
      <p:sp>
        <p:nvSpPr>
          <p:cNvPr id="8" name="Text 6"/>
          <p:cNvSpPr/>
          <p:nvPr/>
        </p:nvSpPr>
        <p:spPr>
          <a:xfrm>
            <a:off x="822960" y="3931920"/>
            <a:ext cx="10515600" cy="502920"/>
          </a:xfrm>
          <a:prstGeom prst="rect">
            <a:avLst/>
          </a:prstGeom>
          <a:noFill/>
          <a:ln/>
        </p:spPr>
        <p:txBody>
          <a:bodyPr wrap="square" rtlCol="0" anchor="ctr"/>
          <a:lstStyle/>
          <a:p>
            <a:pPr marL="0" indent="0">
              <a:buNone/>
            </a:pPr>
            <a:r>
              <a:rPr lang="en-US" sz="2000" i="1" dirty="0">
                <a:solidFill>
                  <a:srgbClr val="CADCFC"/>
                </a:solidFill>
                <a:latin typeface="Georgia" pitchFamily="34" charset="0"/>
                <a:ea typeface="Georgia" pitchFamily="34" charset="-122"/>
                <a:cs typeface="Georgia" pitchFamily="34" charset="-120"/>
              </a:rPr>
              <a:t>No manual intervention is needed for day-to-day data collection.</a:t>
            </a:r>
            <a:endParaRPr lang="en-US" sz="2000" dirty="0"/>
          </a:p>
        </p:txBody>
      </p:sp>
      <p:sp>
        <p:nvSpPr>
          <p:cNvPr id="9" name="Text 7"/>
          <p:cNvSpPr/>
          <p:nvPr/>
        </p:nvSpPr>
        <p:spPr>
          <a:xfrm>
            <a:off x="822960" y="4434840"/>
            <a:ext cx="10515600" cy="502920"/>
          </a:xfrm>
          <a:prstGeom prst="rect">
            <a:avLst/>
          </a:prstGeom>
          <a:noFill/>
          <a:ln/>
        </p:spPr>
        <p:txBody>
          <a:bodyPr wrap="square" rtlCol="0" anchor="ctr"/>
          <a:lstStyle/>
          <a:p>
            <a:pPr marL="0" indent="0">
              <a:buNone/>
            </a:pPr>
            <a:r>
              <a:rPr lang="en-US" sz="2000" i="1" dirty="0">
                <a:solidFill>
                  <a:srgbClr val="CADCFC"/>
                </a:solidFill>
                <a:latin typeface="Georgia" pitchFamily="34" charset="0"/>
                <a:ea typeface="Georgia" pitchFamily="34" charset="-122"/>
                <a:cs typeface="Georgia" pitchFamily="34" charset="-120"/>
              </a:rPr>
              <a:t>The team is alerted automatically if anything goes wrong.</a:t>
            </a:r>
            <a:endParaRPr lang="en-US" sz="2000" dirty="0"/>
          </a:p>
        </p:txBody>
      </p:sp>
      <p:sp>
        <p:nvSpPr>
          <p:cNvPr id="10" name="Shape 8"/>
          <p:cNvSpPr/>
          <p:nvPr/>
        </p:nvSpPr>
        <p:spPr>
          <a:xfrm>
            <a:off x="822960" y="5669280"/>
            <a:ext cx="10543032" cy="0"/>
          </a:xfrm>
          <a:prstGeom prst="line">
            <a:avLst/>
          </a:prstGeom>
          <a:noFill/>
          <a:ln w="9525">
            <a:solidFill>
              <a:srgbClr val="1E3559"/>
            </a:solidFill>
            <a:prstDash val="solid"/>
          </a:ln>
        </p:spPr>
        <p:txBody>
          <a:bodyPr/>
          <a:lstStyle/>
          <a:p>
            <a:endParaRPr lang="en-US"/>
          </a:p>
        </p:txBody>
      </p:sp>
      <p:sp>
        <p:nvSpPr>
          <p:cNvPr id="11" name="Text 9"/>
          <p:cNvSpPr/>
          <p:nvPr/>
        </p:nvSpPr>
        <p:spPr>
          <a:xfrm>
            <a:off x="822960" y="5852160"/>
            <a:ext cx="5486400" cy="320040"/>
          </a:xfrm>
          <a:prstGeom prst="rect">
            <a:avLst/>
          </a:prstGeom>
          <a:noFill/>
          <a:ln/>
        </p:spPr>
        <p:txBody>
          <a:bodyPr wrap="square"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PANTHEON  ·  Piracy Intelligence</a:t>
            </a:r>
            <a:endParaRPr lang="en-US" sz="1100" dirty="0"/>
          </a:p>
        </p:txBody>
      </p:sp>
      <p:sp>
        <p:nvSpPr>
          <p:cNvPr id="12" name="Text 10"/>
          <p:cNvSpPr/>
          <p:nvPr/>
        </p:nvSpPr>
        <p:spPr>
          <a:xfrm>
            <a:off x="822960" y="6172200"/>
            <a:ext cx="5486400" cy="274320"/>
          </a:xfrm>
          <a:prstGeom prst="rect">
            <a:avLst/>
          </a:prstGeom>
          <a:noFill/>
          <a:ln/>
        </p:spPr>
        <p:txBody>
          <a:bodyPr wrap="square" rtlCol="0" anchor="ctr"/>
          <a:lstStyle/>
          <a:p>
            <a:pPr marL="0" indent="0">
              <a:buNone/>
            </a:pPr>
            <a:r>
              <a:rPr lang="en-US" sz="900" kern="0" spc="400" dirty="0">
                <a:solidFill>
                  <a:srgbClr val="8B95A7"/>
                </a:solidFill>
                <a:latin typeface="Calibri" pitchFamily="34" charset="0"/>
                <a:ea typeface="Calibri" pitchFamily="34" charset="-122"/>
                <a:cs typeface="Calibri" pitchFamily="34" charset="-120"/>
              </a:rPr>
              <a:t>Team reference document  ·  May 2026</a:t>
            </a:r>
            <a:endParaRPr lang="en-US" sz="900" dirty="0"/>
          </a:p>
        </p:txBody>
      </p:sp>
      <p:sp>
        <p:nvSpPr>
          <p:cNvPr id="13" name="Text 11"/>
          <p:cNvSpPr/>
          <p:nvPr/>
        </p:nvSpPr>
        <p:spPr>
          <a:xfrm>
            <a:off x="10360152" y="5852160"/>
            <a:ext cx="1097280" cy="320040"/>
          </a:xfrm>
          <a:prstGeom prst="rect">
            <a:avLst/>
          </a:prstGeom>
          <a:noFill/>
          <a:ln/>
        </p:spPr>
        <p:txBody>
          <a:bodyPr wrap="square" rtlCol="0" anchor="ctr"/>
          <a:lstStyle/>
          <a:p>
            <a:pPr marL="0" indent="0" algn="r">
              <a:buNone/>
            </a:pPr>
            <a:r>
              <a:rPr lang="en-US" sz="1600" i="1" dirty="0">
                <a:solidFill>
                  <a:srgbClr val="C8763C"/>
                </a:solidFill>
                <a:latin typeface="Georgia" pitchFamily="34" charset="0"/>
                <a:ea typeface="Georgia" pitchFamily="34" charset="-122"/>
                <a:cs typeface="Georgia" pitchFamily="34" charset="-120"/>
              </a:rPr>
              <a:t>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1587</Words>
  <Application>Microsoft Macintosh PowerPoint</Application>
  <PresentationFormat>Widescreen</PresentationFormat>
  <Paragraphs>293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Pantheon — Piracy Intelligence System</dc:title>
  <dc:subject>PptxGenJS Presentation</dc:subject>
  <dc:creator>Pantheon Team</dc:creator>
  <cp:lastModifiedBy>Tierney, Matthew</cp:lastModifiedBy>
  <cp:revision>2</cp:revision>
  <dcterms:created xsi:type="dcterms:W3CDTF">2026-05-26T22:14:29Z</dcterms:created>
  <dcterms:modified xsi:type="dcterms:W3CDTF">2026-05-26T22:20:41Z</dcterms:modified>
</cp:coreProperties>
</file>